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4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87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58368" y="566928"/>
            <a:ext cx="2304288" cy="256032"/>
          </a:xfrm>
          <a:prstGeom prst="roundRect">
            <a:avLst>
              <a:gd name="adj" fmla="val 17857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8096" y="61722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水果忍者：从“手势控制”到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“行为数据驱动的自适应交互”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94944" y="2240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数据驱动的自适应体感交互游戏系统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29718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45ms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4944" y="335584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手势行为采样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514600" y="29718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52B7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14600" y="335584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轨迹覆盖分析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4334256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49A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0.78–1.38×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34256" y="3355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灵敏度范围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97C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4+1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46520" y="3355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模式数量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58368" y="4160520"/>
            <a:ext cx="54864" cy="100584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3799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自然交互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727448"/>
            <a:ext cx="2002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摄像头或鼠标轨迹直接映射为虚拟刀刃，降低键鼠操作门槛。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29000" y="41605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29000" y="4160520"/>
            <a:ext cx="54864" cy="100584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85032" y="43799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数据闭环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85032" y="4727448"/>
            <a:ext cx="2002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记录命中、覆盖、疲劳趋势，并在结算页给出可解释反馈。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199632" y="41605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199632" y="4160520"/>
            <a:ext cx="54864" cy="100584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55664" y="43799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自适应体验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55664" y="4727448"/>
            <a:ext cx="2002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下一局灵敏度自动微调，减少手动调参，服务持续心流。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764524" y="992124"/>
            <a:ext cx="2788920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0160">
            <a:solidFill>
              <a:srgbClr val="D8E1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0" descr="/mnt/data/ppt_unzip/ppt/media/image15.gif"/>
          <p:cNvPicPr>
            <a:picLocks noChangeAspect="1"/>
          </p:cNvPicPr>
          <p:nvPr/>
        </p:nvPicPr>
        <p:blipFill>
          <a:blip r:embed="rId3"/>
          <a:srcRect l="3253" r="3253"/>
          <a:stretch/>
        </p:blipFill>
        <p:spPr>
          <a:xfrm>
            <a:off x="8796528" y="1024128"/>
            <a:ext cx="2724912" cy="184708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764524" y="313182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8E1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1" descr="/mnt/data/ppt_unzip/ppt/media/image24.png"/>
          <p:cNvPicPr>
            <a:picLocks noChangeAspect="1"/>
          </p:cNvPicPr>
          <p:nvPr/>
        </p:nvPicPr>
        <p:blipFill>
          <a:blip r:embed="rId4"/>
          <a:srcRect t="3" b="3"/>
          <a:stretch/>
        </p:blipFill>
        <p:spPr>
          <a:xfrm>
            <a:off x="8796528" y="3163824"/>
            <a:ext cx="2724912" cy="15361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94944" y="616305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2452098 赵崇治  /  2451326 孙琮贺  /  2450299 谢智行  /  2452326 崔少坤</a:t>
            </a:r>
            <a:endParaRPr lang="en-US" sz="870" dirty="0"/>
          </a:p>
        </p:txBody>
      </p:sp>
      <p:sp>
        <p:nvSpPr>
          <p:cNvPr id="33" name="Text 29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MEMBERSHIP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团队分工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0392" y="142646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赵崇治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148840" y="13258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240280" y="14264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算法与逻辑层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58768" y="132588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041648" y="1426464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MediaPipe 手势模型调优、自适应灵敏度算法、表情识别、多人模式、功能验收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77240" y="20116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0392" y="211226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孙琮贺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148840" y="20116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240280" y="2112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渲染引擎层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58768" y="201168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41648" y="2112264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2D 粒子系统、物理碰撞检测、Web Audio 音频引擎、连击逻辑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77240" y="26974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0392" y="279806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谢智行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148840" y="26974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240280" y="27980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 UI 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58768" y="269748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041648" y="2798064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道具系统、响应式 HUD 设计、难度设计、多人模式、演示材料整理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77240" y="33832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D95A4A"/>
          </a:solidFill>
          <a:ln w="12700">
            <a:solidFill>
              <a:srgbClr val="D95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0392" y="348386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崔少坤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148840" y="33832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240280" y="34838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数据与反馈层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58768" y="338328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041648" y="3483864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前期框架设计、方向确定、设置界面开发、用户行为数据采集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77240" y="40690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0392" y="416966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共同维护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148840" y="40690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240280" y="41696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联调与质量保障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58768" y="406908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041648" y="4169664"/>
            <a:ext cx="6446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冲突处理、Bug 修复、功能验收、演示流程统一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77240" y="51663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24128" y="5449824"/>
            <a:ext cx="945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项目完成了</a:t>
            </a:r>
            <a:r>
              <a:rPr lang="en-US" sz="93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“自然输入—实时反馈—行为分析—下一局自适应”的闭环，核心创新在于将游戏交互过程转化为可解释、可调节的用户行为数据。</a:t>
            </a:r>
            <a:endParaRPr lang="en-US" sz="93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PROGRAM INTRO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需求不是“能玩”，而是低成本、自然交互、可持续反馈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交互设计目标：低学习成本、即时反馈、自适应性。功能按照用户体验链路组织，而不是简单堆叠菜单。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865376"/>
            <a:ext cx="310896" cy="310896"/>
          </a:xfrm>
          <a:prstGeom prst="ellipse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54380" y="192938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自然交互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121408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摄像头/鼠标两种输入路径；手势轨迹直接对应屏幕刀刃。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310896" cy="310896"/>
          </a:xfrm>
          <a:prstGeom prst="ellipse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4380" y="272491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2624328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完整玩法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91693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经典、禅意、街机、道场；双人对战入口与道具系统。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85800" y="3456432"/>
            <a:ext cx="310896" cy="310896"/>
          </a:xfrm>
          <a:prstGeom prst="ellipse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4380" y="352044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5568" y="3419856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实时反馈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3712464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切割、连击、爆炸、时停、清屏都有视觉和音频反馈。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310896" cy="310896"/>
          </a:xfrm>
          <a:prstGeom prst="ellipse">
            <a:avLst/>
          </a:prstGeom>
          <a:solidFill>
            <a:srgbClr val="D95A4A"/>
          </a:solidFill>
          <a:ln w="12700">
            <a:solidFill>
              <a:srgbClr val="D95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54380" y="431596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15568" y="4215384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数据反馈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450799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结算页输出命中率、覆盖率、疲劳、交互分与建议。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597396" y="1595628"/>
            <a:ext cx="4453128" cy="2642616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0160">
            <a:solidFill>
              <a:srgbClr val="D5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0" descr="/mnt/data/ppt_unzip/ppt/media/image21.gif"/>
          <p:cNvPicPr>
            <a:picLocks noChangeAspect="1"/>
          </p:cNvPicPr>
          <p:nvPr/>
        </p:nvPicPr>
        <p:blipFill>
          <a:blip r:embed="rId3"/>
          <a:srcRect t="3649" b="3649"/>
          <a:stretch/>
        </p:blipFill>
        <p:spPr>
          <a:xfrm>
            <a:off x="6629400" y="1627632"/>
            <a:ext cx="4389120" cy="2578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20840" y="4663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6720840" y="5047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MediaPipe 手部关键点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8229600" y="4663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49A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900+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8229600" y="5047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每局最多记录点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9738360" y="4663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97C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9738360" y="5047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用户数据本地保存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输入、玩法、反馈和数据形成闭环：每局结束后，系统将行为指标转化为下一局的交互参数。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INTERACTION FLOW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交互流：从真实手势到游戏反馈，再到下一局参数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93852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0350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4980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输入采集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摄像头或鼠标轨迹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81304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47802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BFAF5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62432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状态识别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2432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手势/表情/按压状态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68756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35254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49884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轨迹建模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9884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平滑后的刀刃路径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56208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2706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BFAF5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7336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碰撞判定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336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线段与圆的最短距离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43660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0158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4788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反馈输出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4788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分数、音效、粒子特效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1311128" y="2185416"/>
            <a:ext cx="41148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976104" y="164592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BFAF5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122408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数据沉淀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22408" y="220370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报告与灵敏度更新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17804" y="3305556"/>
            <a:ext cx="4041648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0" descr="/mnt/data/ppt_unzip/ppt/media/image16.gif"/>
          <p:cNvPicPr>
            <a:picLocks noChangeAspect="1"/>
          </p:cNvPicPr>
          <p:nvPr/>
        </p:nvPicPr>
        <p:blipFill>
          <a:blip r:embed="rId3"/>
          <a:srcRect t="5565" b="5565"/>
          <a:stretch/>
        </p:blipFill>
        <p:spPr>
          <a:xfrm>
            <a:off x="749808" y="3337560"/>
            <a:ext cx="3977640" cy="224028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074920" y="3401568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5074920" y="3401568"/>
            <a:ext cx="54864" cy="201168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5330952" y="362102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核心事件链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330952" y="3968496"/>
            <a:ext cx="163677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requestAnimationFrame 驱动主循环；每帧更新水果位置、刀刃轨迹、碰撞状态、音效触发和 HUD 数据。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7498080" y="3401568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7498080" y="3401568"/>
            <a:ext cx="54864" cy="201168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7754112" y="362102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状态隔离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7754112" y="3968496"/>
            <a:ext cx="163677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Menu、Game、Shop、Dojo、Result 等场景独立管理，避免功能互相污染。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9921240" y="3401568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9921240" y="3401568"/>
            <a:ext cx="54864" cy="201168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0177272" y="3621024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稳定性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10177272" y="3968496"/>
            <a:ext cx="117957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手势输入经过平滑与阈值判断，降低误触和抖动。</a:t>
            </a:r>
            <a:endParaRPr lang="en-US" sz="920" dirty="0"/>
          </a:p>
        </p:txBody>
      </p:sp>
      <p:sp>
        <p:nvSpPr>
          <p:cNvPr id="45" name="Text 42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设计重点：把输入、反馈和数据记录放在同一个实时循环中，但将调参延迟到下一局生效。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SET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自定义交互手势集：动作少、语义清晰、误触可控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系统将不同手势抽象为稳定的交互事件，游戏逻辑只消费事件，不直接依赖底层识别模型。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353312" y="2139696"/>
            <a:ext cx="658368" cy="658368"/>
          </a:xfrm>
          <a:prstGeom prst="ellipse">
            <a:avLst/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ppt_unzip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33" y="2276856"/>
            <a:ext cx="363071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044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食指识别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34290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确认选择 / 设置确认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27248" y="18745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822192" y="2139696"/>
            <a:ext cx="658368" cy="658368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/mnt/data/ppt_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2303692"/>
            <a:ext cx="411480" cy="35780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3044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五指张开 Palm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28416" y="34290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触发清屏道具 Clear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596128" y="18745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6291072" y="2139696"/>
            <a:ext cx="658368" cy="658368"/>
          </a:xfrm>
          <a:prstGeom prst="ellipse">
            <a:avLst/>
          </a:prstGeom>
          <a:solidFill>
            <a:srgbClr val="FFF0D7"/>
          </a:solidFill>
          <a:ln w="12700">
            <a:solidFill>
              <a:srgbClr val="FFF0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/mnt/data/ppt_unzip/ppt/media/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662" y="2276856"/>
            <a:ext cx="370332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79008" y="3044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响指 Snap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797296" y="34290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触发时间停止 Time Stop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8380476" y="1705356"/>
            <a:ext cx="30632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/mnt/data/ppt_unzip/ppt/media/image14.png"/>
          <p:cNvPicPr>
            <a:picLocks noChangeAspect="1"/>
          </p:cNvPicPr>
          <p:nvPr/>
        </p:nvPicPr>
        <p:blipFill>
          <a:blip r:embed="rId6"/>
          <a:srcRect t="5086" b="5086"/>
          <a:stretch/>
        </p:blipFill>
        <p:spPr>
          <a:xfrm>
            <a:off x="8412480" y="1737360"/>
            <a:ext cx="2999232" cy="192938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13232" y="461772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713232" y="4617720"/>
            <a:ext cx="54864" cy="86868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969264" y="48371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输入兼容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69264" y="5184648"/>
            <a:ext cx="26151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摄像头不可用时可切换鼠标模式，保证演示与测试路径稳定。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4160520" y="461772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4160520" y="4617720"/>
            <a:ext cx="54864" cy="86868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5"/>
          <p:cNvSpPr/>
          <p:nvPr/>
        </p:nvSpPr>
        <p:spPr>
          <a:xfrm>
            <a:off x="4416552" y="48371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误触控制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416552" y="5184648"/>
            <a:ext cx="26151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手势动作设置为高区分度状态，并配合冷却时间与阈值判断。</a:t>
            </a:r>
            <a:endParaRPr lang="en-US" sz="920" dirty="0"/>
          </a:p>
        </p:txBody>
      </p:sp>
      <p:sp>
        <p:nvSpPr>
          <p:cNvPr id="33" name="Shape 27"/>
          <p:cNvSpPr/>
          <p:nvPr/>
        </p:nvSpPr>
        <p:spPr>
          <a:xfrm>
            <a:off x="7607808" y="461772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8"/>
          <p:cNvSpPr/>
          <p:nvPr/>
        </p:nvSpPr>
        <p:spPr>
          <a:xfrm>
            <a:off x="7607808" y="4617720"/>
            <a:ext cx="54864" cy="86868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7863840" y="48371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可扩展接口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863840" y="5184648"/>
            <a:ext cx="26151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新增手势只需要扩充事件映射，不破坏碰撞和计分逻辑。</a:t>
            </a:r>
            <a:endParaRPr lang="en-US" sz="920" dirty="0"/>
          </a:p>
        </p:txBody>
      </p:sp>
      <p:sp>
        <p:nvSpPr>
          <p:cNvPr id="37" name="Text 31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交互原则：少量高语义手势负责关键动作，其余连续操作交给轨迹输入。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SYSTEM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玩法系统：模式、道具、道场与反馈机制共同支撑可玩性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1228" y="1357884"/>
            <a:ext cx="3813048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/mnt/data/ppt_unzip/ppt/media/image17.png"/>
          <p:cNvPicPr>
            <a:picLocks noChangeAspect="1"/>
          </p:cNvPicPr>
          <p:nvPr/>
        </p:nvPicPr>
        <p:blipFill>
          <a:blip r:embed="rId3"/>
          <a:srcRect l="2482" r="2482"/>
          <a:stretch/>
        </p:blipFill>
        <p:spPr>
          <a:xfrm>
            <a:off x="713232" y="1389888"/>
            <a:ext cx="374904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77156" y="1357884"/>
            <a:ext cx="2807208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ppt_unzip/ppt/media/image18.png"/>
          <p:cNvPicPr>
            <a:picLocks noChangeAspect="1"/>
          </p:cNvPicPr>
          <p:nvPr/>
        </p:nvPicPr>
        <p:blipFill>
          <a:blip r:embed="rId4"/>
          <a:srcRect l="229" r="229"/>
          <a:stretch/>
        </p:blipFill>
        <p:spPr>
          <a:xfrm>
            <a:off x="4709160" y="1389888"/>
            <a:ext cx="274320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67244" y="1357884"/>
            <a:ext cx="3447288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/mnt/data/ppt_unzip/ppt/media/image23.png"/>
          <p:cNvPicPr>
            <a:picLocks noChangeAspect="1"/>
          </p:cNvPicPr>
          <p:nvPr/>
        </p:nvPicPr>
        <p:blipFill>
          <a:blip r:embed="rId5"/>
          <a:srcRect t="761" b="761"/>
          <a:stretch/>
        </p:blipFill>
        <p:spPr>
          <a:xfrm>
            <a:off x="7699248" y="1389888"/>
            <a:ext cx="3383280" cy="20116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77240" y="40690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777240" y="4069080"/>
            <a:ext cx="54864" cy="114300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1033272" y="428853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模式组织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33272" y="4636008"/>
            <a:ext cx="26426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经典、禅意、街机强调不同目标；道场提供背景、特效和强度调节。</a:t>
            </a:r>
            <a:endParaRPr lang="en-US" sz="920" dirty="0"/>
          </a:p>
        </p:txBody>
      </p:sp>
      <p:sp>
        <p:nvSpPr>
          <p:cNvPr id="17" name="Shape 12"/>
          <p:cNvSpPr/>
          <p:nvPr/>
        </p:nvSpPr>
        <p:spPr>
          <a:xfrm>
            <a:off x="4544568" y="40690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4544568" y="4069080"/>
            <a:ext cx="54864" cy="114300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4800600" y="428853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道具经济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800600" y="4636008"/>
            <a:ext cx="26426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金币、刀刃皮肤、清屏和时停道具形成轻量成长与策略选择。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8311896" y="40690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8311896" y="4069080"/>
            <a:ext cx="54864" cy="114300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8567928" y="428853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即时反馈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567928" y="4636008"/>
            <a:ext cx="26426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粒子、音效、连击倍数和 HUD 变化让切割动作被即时确认。</a:t>
            </a:r>
            <a:endParaRPr lang="en-US" sz="920" dirty="0"/>
          </a:p>
        </p:txBody>
      </p:sp>
      <p:sp>
        <p:nvSpPr>
          <p:cNvPr id="25" name="Text 20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功能润色重点：把“能玩”扩展为“有目标、有反馈、有成长、有个性化设置”的完整体验。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ENGINEERING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核心功能实现：识别、物理、渲染、音频在主循环中协同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项目不是单点 API 调用，而是一个实时交互系统：识别结果进入状态机，状态机驱动渲染、碰撞、计分和数据采集。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54864" cy="987552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41832" y="200253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MediaPipe Hands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2350008"/>
            <a:ext cx="4059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追踪 21 个手部关键点，输出指尖坐标、手掌状态和手势置信度。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852160" y="1783080"/>
            <a:ext cx="54864" cy="987552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08192" y="200253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物理与碰撞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08192" y="2350008"/>
            <a:ext cx="4059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水果抛射由速度、重力和随机生成概率控制；切割基于轨迹线段与圆的距离。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3044952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044952"/>
            <a:ext cx="54864" cy="987552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1832" y="3264408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2D 渲染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1832" y="3611880"/>
            <a:ext cx="4059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requestAnimationFrame 驱动高频绘制，粒子、刀光、爆炸和 HUD 同步刷新。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852160" y="3044952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852160" y="3044952"/>
            <a:ext cx="54864" cy="9875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08192" y="3264408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Audio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08192" y="3611880"/>
            <a:ext cx="4059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不同模式 BGM 与命中、连击、爆炸、时停音效分层控制。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231636" y="4128516"/>
            <a:ext cx="4590288" cy="1636776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0" descr="/mnt/data/ppt_unzip/ppt/media/image8.gif"/>
          <p:cNvPicPr>
            <a:picLocks noChangeAspect="1"/>
          </p:cNvPicPr>
          <p:nvPr/>
        </p:nvPicPr>
        <p:blipFill>
          <a:blip r:embed="rId3"/>
          <a:srcRect t="22586" b="22586"/>
          <a:stretch/>
        </p:blipFill>
        <p:spPr>
          <a:xfrm>
            <a:off x="6263640" y="4160520"/>
            <a:ext cx="4526280" cy="157276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13232" y="4251960"/>
            <a:ext cx="498348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713232" y="4251960"/>
            <a:ext cx="54864" cy="1335024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69264" y="447141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代码层面的关键约束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69264" y="4818888"/>
            <a:ext cx="4471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每一局内不突变核心灵敏度；调参在结算后写入下一局。这样既保证可解释性，也避免玩家在同一局内感到控制手感突然变化。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实时性来自简单而清晰的循环：采集 → 状态更新 → 碰撞与计分 → 渲染反馈 → 行为记录。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NOVELTY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创新点：把摄像头输入扩展为行为数据反馈闭环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普通体感项目通常停留在“识别手势 → 游戏响应”。本项目多做一步：把交互过程转化为数据，再反向调节下一局体验。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2011680" y="2423160"/>
            <a:ext cx="54864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977640" y="2423160"/>
            <a:ext cx="54864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943600" y="2423160"/>
            <a:ext cx="54864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874520" y="4297680"/>
            <a:ext cx="475488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538728" y="4297680"/>
            <a:ext cx="475488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202936" y="4297680"/>
            <a:ext cx="475488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867144" y="4297680"/>
            <a:ext cx="475488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5800" y="1572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传统体感项目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1920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4672" y="2286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651760" y="1920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70632" y="2286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手势识别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617720" y="1920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36592" y="2286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游戏响应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583680" y="1920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02552" y="2286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D95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固定参数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3447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我们的项目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37947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95528" y="40507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手势轨迹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50008" y="37947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459736" y="40507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采集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59736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45ms 样本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14216" y="37947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123944" y="40507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23944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命中/覆盖/疲劳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78424" y="37947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788152" y="40507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建模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88152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个人灵敏度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42632" y="37947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DFF7F1"/>
          </a:solidFill>
          <a:ln w="1778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452360" y="40507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52360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下一局应用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0" y="1828800"/>
            <a:ext cx="2057400" cy="2971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144000" y="1828800"/>
            <a:ext cx="54864" cy="297180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400032" y="2048256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核心定位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400032" y="2395728"/>
            <a:ext cx="1545336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项目价值不只在“能识别手势”，而在“能用行为数据解释玩家状态，并把解释结果转化为下一局的交互参数”。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闭环结构让项目从游戏原型扩展到 HCI 交互行为研究原型。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ADAPTIVE ALGORITHM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自适应灵敏度算法：多指标、渐进式、下一局生效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97C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0.78×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最小灵敏度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233172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1.38×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31720" y="1892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最大灵敏度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97764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49A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45ms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77640" y="1892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采样间隔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52B7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23560" y="1892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样本上限/局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374636" y="1229868"/>
            <a:ext cx="367588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/mnt/data/ppt_unzip/ppt/media/image21.gif"/>
          <p:cNvPicPr>
            <a:picLocks noChangeAspect="1"/>
          </p:cNvPicPr>
          <p:nvPr/>
        </p:nvPicPr>
        <p:blipFill>
          <a:blip r:embed="rId3"/>
          <a:srcRect t="5060" b="5060"/>
          <a:stretch/>
        </p:blipFill>
        <p:spPr>
          <a:xfrm>
            <a:off x="7406640" y="1261872"/>
            <a:ext cx="3611880" cy="2057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13232" y="3429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713232" y="3429000"/>
            <a:ext cx="54864" cy="109728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69264" y="364845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输入指标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69264" y="3995928"/>
            <a:ext cx="27797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命中率衡量操作有效性；覆盖率衡量屏幕空间使用；疲劳趋势衡量挥动速度和稳定性的变化。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407408" y="3429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4407408" y="3429000"/>
            <a:ext cx="54864" cy="109728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663440" y="364845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更新规则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663440" y="3995928"/>
            <a:ext cx="27797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将指标归一化后形成调节方向，并对单次变化幅度限速，防止体验出现跳变。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8101584" y="3429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8101584" y="3429000"/>
            <a:ext cx="54864" cy="109728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8357616" y="364845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边界约束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57616" y="3995928"/>
            <a:ext cx="27797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灵敏度被 clamp 在 0.78–1.38×；只在对局结束后写入下一局参数。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1005840" y="5074920"/>
            <a:ext cx="9875520" cy="566928"/>
          </a:xfrm>
          <a:prstGeom prst="roundRect">
            <a:avLst>
              <a:gd name="adj" fmla="val 12903"/>
            </a:avLst>
          </a:prstGeom>
          <a:solidFill>
            <a:srgbClr val="FBFAF5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234440" y="5257800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设计目的：当玩家覆盖范围变窄且命中率下降时，系统提高灵敏度；当操作稳定且覆盖充分时，保持或轻微回落。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自适应不是黑箱：每个指标都可在结算报告中解释，并能回到下一局参数。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REPORT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全维度数据报告：从“分数”扩展到“交互质量”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1228" y="1339596"/>
            <a:ext cx="4864608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/mnt/data/ppt_unzip/ppt/media/image24.png"/>
          <p:cNvPicPr>
            <a:picLocks noChangeAspect="1"/>
          </p:cNvPicPr>
          <p:nvPr/>
        </p:nvPicPr>
        <p:blipFill>
          <a:blip r:embed="rId3"/>
          <a:srcRect t="168" b="168"/>
          <a:stretch/>
        </p:blipFill>
        <p:spPr>
          <a:xfrm>
            <a:off x="713232" y="1371600"/>
            <a:ext cx="4800600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41732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63640" y="16642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轨迹热力图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27648" y="1993392"/>
            <a:ext cx="310896" cy="228600"/>
          </a:xfrm>
          <a:prstGeom prst="rect">
            <a:avLst/>
          </a:prstGeom>
          <a:solidFill>
            <a:srgbClr val="DDEDE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6711696" y="1993392"/>
            <a:ext cx="310896" cy="228600"/>
          </a:xfrm>
          <a:prstGeom prst="rect">
            <a:avLst/>
          </a:prstGeom>
          <a:solidFill>
            <a:srgbClr val="52B78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095744" y="1993392"/>
            <a:ext cx="310896" cy="228600"/>
          </a:xfrm>
          <a:prstGeom prst="rect">
            <a:avLst/>
          </a:prstGeom>
          <a:solidFill>
            <a:srgbClr val="9BD8C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327648" y="2286000"/>
            <a:ext cx="310896" cy="228600"/>
          </a:xfrm>
          <a:prstGeom prst="rect">
            <a:avLst/>
          </a:prstGeom>
          <a:solidFill>
            <a:srgbClr val="9BD8C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6711696" y="2286000"/>
            <a:ext cx="310896" cy="228600"/>
          </a:xfrm>
          <a:prstGeom prst="rect">
            <a:avLst/>
          </a:prstGeom>
          <a:solidFill>
            <a:srgbClr val="10B79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095744" y="2286000"/>
            <a:ext cx="310896" cy="228600"/>
          </a:xfrm>
          <a:prstGeom prst="rect">
            <a:avLst/>
          </a:prstGeom>
          <a:solidFill>
            <a:srgbClr val="52B78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6327648" y="2578608"/>
            <a:ext cx="310896" cy="228600"/>
          </a:xfrm>
          <a:prstGeom prst="rect">
            <a:avLst/>
          </a:prstGeom>
          <a:solidFill>
            <a:srgbClr val="DDEDE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711696" y="2578608"/>
            <a:ext cx="310896" cy="228600"/>
          </a:xfrm>
          <a:prstGeom prst="rect">
            <a:avLst/>
          </a:prstGeom>
          <a:solidFill>
            <a:srgbClr val="9BD8C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7095744" y="2578608"/>
            <a:ext cx="310896" cy="228600"/>
          </a:xfrm>
          <a:prstGeom prst="rect">
            <a:avLst/>
          </a:prstGeom>
          <a:solidFill>
            <a:srgbClr val="DDEDE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217920" y="2999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发现高频区与盲区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8458200" y="141732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796528" y="1664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疲劳趋势 EMA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823960" y="2852928"/>
            <a:ext cx="1234440" cy="0"/>
          </a:xfrm>
          <a:prstGeom prst="line">
            <a:avLst/>
          </a:prstGeom>
          <a:noFill/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8823960" y="2103120"/>
            <a:ext cx="0" cy="749808"/>
          </a:xfrm>
          <a:prstGeom prst="line">
            <a:avLst/>
          </a:prstGeom>
          <a:noFill/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8869680" y="2057400"/>
            <a:ext cx="1143000" cy="685800"/>
          </a:xfrm>
          <a:prstGeom prst="arc">
            <a:avLst/>
          </a:prstGeom>
          <a:noFill/>
          <a:ln w="254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668512" y="2999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速度下降触发提醒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749808" y="46177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749808" y="4617720"/>
            <a:ext cx="54864" cy="86868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005840" y="48371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命中与连击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" y="5184648"/>
            <a:ext cx="26426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从最终得分拆解为命中率、连击次数和误切情况。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4297680" y="46177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4297680" y="4617720"/>
            <a:ext cx="54864" cy="86868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4553712" y="48371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空间覆盖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553712" y="5184648"/>
            <a:ext cx="26426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通过网格统计定位玩家常用区域与交互盲区。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7845552" y="46177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7845552" y="4617720"/>
            <a:ext cx="54864" cy="86868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8101584" y="48371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疲劳预判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8101584" y="5184648"/>
            <a:ext cx="26426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用速度变化和稳定性变化评估持续操作负担。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报告页把“结果评价”扩展为“下一局怎么改”的依据。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AFFECTIVE INTERFACE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情感感知界面：将表情状态作为可选的 HCI 观察维度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53796" y="1303020"/>
            <a:ext cx="3172968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/mnt/data/ppt_unzip/ppt/media/image25.png"/>
          <p:cNvPicPr>
            <a:picLocks noChangeAspect="1"/>
          </p:cNvPicPr>
          <p:nvPr/>
        </p:nvPicPr>
        <p:blipFill>
          <a:blip r:embed="rId3"/>
          <a:srcRect l="64" r="64"/>
          <a:stretch/>
        </p:blipFill>
        <p:spPr>
          <a:xfrm>
            <a:off x="685800" y="1335024"/>
            <a:ext cx="3108960" cy="19751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28516" y="1303020"/>
            <a:ext cx="2715768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ppt_unzip/ppt/media/image26.png"/>
          <p:cNvPicPr>
            <a:picLocks noChangeAspect="1"/>
          </p:cNvPicPr>
          <p:nvPr/>
        </p:nvPicPr>
        <p:blipFill>
          <a:blip r:embed="rId4"/>
          <a:srcRect l="4752" r="4752"/>
          <a:stretch/>
        </p:blipFill>
        <p:spPr>
          <a:xfrm>
            <a:off x="4160520" y="1335024"/>
            <a:ext cx="2651760" cy="19751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69480" y="137160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7269480" y="1371600"/>
            <a:ext cx="54864" cy="96012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7525512" y="159105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可选开启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25512" y="1938528"/>
            <a:ext cx="2916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Face Mesh 模块作为附加功能，不影响主游戏路径；摄像头不可用时仍可正常游玩。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7269480" y="26060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7269480" y="2606040"/>
            <a:ext cx="54864" cy="96012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7525512" y="28254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本地处理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525512" y="3172968"/>
            <a:ext cx="2916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表情状态用于单局报告，不上传用户图像，降低隐私风险和演示不确定性。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749808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749808" y="4160520"/>
            <a:ext cx="54864" cy="1024128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1005840" y="43799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专注状态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005840" y="472744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记录平静、紧张、专注等状态变化，为心流体验分析提供补充维度。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4297680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4297680" y="4160520"/>
            <a:ext cx="54864" cy="1024128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553712" y="43799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情绪反馈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53712" y="472744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将开心、惊讶、平稳等状态与命中率和疲劳指标并列展示。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7845552" y="416052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7845552" y="4160520"/>
            <a:ext cx="54864" cy="1024128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8101584" y="437997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研究价值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101584" y="472744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从操作结果扩展到交互过程，使原型具备 HCI 观察和评估价值。</a:t>
            </a:r>
            <a:endParaRPr lang="en-US" sz="920" dirty="0"/>
          </a:p>
        </p:txBody>
      </p:sp>
      <p:sp>
        <p:nvSpPr>
          <p:cNvPr id="31" name="Text 27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表情识别不是强制功能，而是用于增强交互研究维度的可选模块。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MULTIPLAYER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多人模式：多目标追踪、空间归属与独立对抗状态机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1228" y="1293876"/>
            <a:ext cx="4910328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0160">
            <a:solidFill>
              <a:srgbClr val="D6E0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/mnt/data/ppt_unzip/ppt/media/image27.gif"/>
          <p:cNvPicPr>
            <a:picLocks noChangeAspect="1"/>
          </p:cNvPicPr>
          <p:nvPr/>
        </p:nvPicPr>
        <p:blipFill>
          <a:blip r:embed="rId3"/>
          <a:srcRect t="876" b="876"/>
          <a:stretch/>
        </p:blipFill>
        <p:spPr>
          <a:xfrm>
            <a:off x="713232" y="1325880"/>
            <a:ext cx="484632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3716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989320" y="1371600"/>
            <a:ext cx="54864" cy="96012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245352" y="159105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多目标并发追踪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45352" y="1938528"/>
            <a:ext cx="1911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维护多指针队列，同屏并行渲染与碰撞检测。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8732520" y="13716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732520" y="1371600"/>
            <a:ext cx="54864" cy="96012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988552" y="159105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空间动态分割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988552" y="1938528"/>
            <a:ext cx="1911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以屏幕中轴线 W/2 分区，逐帧判定 P1/P2 归属。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989320" y="2670048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5989320" y="2670048"/>
            <a:ext cx="54864" cy="96012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24535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独立积分系统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45352" y="3236976"/>
            <a:ext cx="1911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双线分数、连击与失误互不干扰，减少输入冲突。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732520" y="2670048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8732520" y="2670048"/>
            <a:ext cx="54864" cy="960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898855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公平性控制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988552" y="3236976"/>
            <a:ext cx="1911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根据对抗状态调整生成序列和抛射轨迹，避免单侧优势过大。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5989320" y="4315968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263640" y="459943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目标：让体感交互具备线下街机式的社交属性，同时保持输入边界清晰。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多人模式把单人轨迹输入扩展为多输入源竞争，重点解决归属判定和状态隔离。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 STACK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项目实现技术栈：文件职责清晰，便于定位与维护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32688" y="154533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index.html + CSS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71800" y="1627632"/>
            <a:ext cx="59436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703320" y="1417320"/>
            <a:ext cx="63093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904488" y="1545336"/>
            <a:ext cx="5897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页面入口、HUD、响应式布局、Canvas 容器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3774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2688" y="250545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mediapipe.js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71800" y="2587752"/>
            <a:ext cx="59436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703320" y="2377440"/>
            <a:ext cx="63093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04488" y="2505456"/>
            <a:ext cx="5897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摄像头、MediaPipe Hands / Face Mesh、手势与表情状态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32688" y="346557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main.js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971800" y="3547872"/>
            <a:ext cx="59436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703320" y="3337560"/>
            <a:ext cx="63093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904488" y="3465576"/>
            <a:ext cx="5897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状态机、物理、碰撞、计分、道具、自适应算法、结算报告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42976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D95A4A"/>
          </a:solidFill>
          <a:ln w="12700">
            <a:solidFill>
              <a:srgbClr val="D95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32688" y="442569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audio.js + assets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971800" y="4507992"/>
            <a:ext cx="594360" cy="0"/>
          </a:xfrm>
          <a:prstGeom prst="line">
            <a:avLst/>
          </a:prstGeom>
          <a:noFill/>
          <a:ln w="15240">
            <a:solidFill>
              <a:srgbClr val="DDE5DE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03320" y="4297680"/>
            <a:ext cx="63093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904488" y="4425696"/>
            <a:ext cx="5897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多模式 BGM、命中/爆炸/时停音效、音量控制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548640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14400" y="5486400"/>
            <a:ext cx="54864" cy="658368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70432" y="570585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用户看到的是游戏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70432" y="6053328"/>
            <a:ext cx="25968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界面、反馈与模式切换构成完整体验。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480560" y="548640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480560" y="5486400"/>
            <a:ext cx="54864" cy="658368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736592" y="570585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代码体现的是系统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36592" y="6053328"/>
            <a:ext cx="25968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识别、状态机、物理和数据模块各司其职。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046720" y="548640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46720" y="5486400"/>
            <a:ext cx="54864" cy="658368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302752" y="570585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可维护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02752" y="6053328"/>
            <a:ext cx="20482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模块边界清晰，便于后续扩展。</a:t>
            </a: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B7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TESTING &amp; LIMITATIONS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测试与边界：保证演示稳定，同时说明系统限制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356848" y="6355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9808" y="1417320"/>
            <a:ext cx="54864" cy="1097280"/>
          </a:xfrm>
          <a:prstGeom prst="rect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性能目标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主循环以 60FPS 为目标；手势采样与绘制解耦，降低识别波动对渲染的影响。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15968" y="14173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15968" y="1417320"/>
            <a:ext cx="54864" cy="1097280"/>
          </a:xfrm>
          <a:prstGeom prst="rect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6367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演示兜底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1984248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保留鼠标模式和设置页参数，摄像头权限、光照或遮挡异常时仍可展示核心玩法。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882128" y="14173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882128" y="1417320"/>
            <a:ext cx="54864" cy="1097280"/>
          </a:xfrm>
          <a:prstGeom prst="rect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138160" y="16367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隐私边界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1984248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用户行为数据与表情状态仅用于本地结算页，不上传图像或原始视频流。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77240" y="3127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当前限制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538728"/>
            <a:ext cx="237744" cy="237744"/>
          </a:xfrm>
          <a:prstGeom prst="ellipse">
            <a:avLst/>
          </a:prstGeom>
          <a:solidFill>
            <a:srgbClr val="10B79A"/>
          </a:solidFill>
          <a:ln w="12700">
            <a:solidFill>
              <a:srgbClr val="10B7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82396" y="3598164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1170432" y="3557016"/>
            <a:ext cx="619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摄像头识别对光照、背景和遮挡较敏感。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237744" cy="237744"/>
          </a:xfrm>
          <a:prstGeom prst="ellipse">
            <a:avLst/>
          </a:prstGeom>
          <a:solidFill>
            <a:srgbClr val="E49A2B"/>
          </a:solidFill>
          <a:ln w="12700">
            <a:solidFill>
              <a:srgbClr val="E4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2396" y="412851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1170432" y="4087368"/>
            <a:ext cx="619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疲劳判断基于短时行为特征，不能等同生理疲劳测量。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822960" y="4599432"/>
            <a:ext cx="237744" cy="237744"/>
          </a:xfrm>
          <a:prstGeom prst="ellipse">
            <a:avLst/>
          </a:prstGeom>
          <a:solidFill>
            <a:srgbClr val="397CC5"/>
          </a:solidFill>
          <a:ln w="12700">
            <a:solidFill>
              <a:srgbClr val="397C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2396" y="4658868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1170432" y="4617720"/>
            <a:ext cx="6199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多人模式使用屏幕空间分割，复杂交叉动作仍可能产生归属误判。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7955280" y="333756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DE5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955280" y="3337560"/>
            <a:ext cx="54864" cy="1783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11312" y="355701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3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后续优化方向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1312" y="3904488"/>
            <a:ext cx="200253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570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加入更细粒度的轨迹聚类、难度曲线学习和多人输入冲突校正，使自适应策略更稳定。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02920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D99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边界说明可以提升答辩可信度：展示完成度，也明确原型阶段的限制。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886</Words>
  <Application>Microsoft Office PowerPoint</Application>
  <PresentationFormat>宽屏</PresentationFormat>
  <Paragraphs>259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Noto Sans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Tongji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水果忍者：数据驱动的自适应体感交互游戏系统</dc:title>
  <dc:subject>水果忍者 HCI 项目答辩</dc:subject>
  <dc:creator>Jason Gui</dc:creator>
  <cp:lastModifiedBy>Shalom Hush-X</cp:lastModifiedBy>
  <cp:revision>3</cp:revision>
  <dcterms:created xsi:type="dcterms:W3CDTF">2026-06-14T02:19:14Z</dcterms:created>
  <dcterms:modified xsi:type="dcterms:W3CDTF">2026-06-14T02:26:50Z</dcterms:modified>
</cp:coreProperties>
</file>