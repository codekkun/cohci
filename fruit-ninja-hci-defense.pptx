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63" r:id="rId4"/>
    <p:sldId id="261" r:id="rId5"/>
    <p:sldId id="257" r:id="rId6"/>
    <p:sldId id="264" r:id="rId7"/>
    <p:sldId id="265" r:id="rId8"/>
    <p:sldId id="266" r:id="rId9"/>
    <p:sldId id="259" r:id="rId10"/>
    <p:sldId id="267" r:id="rId11"/>
    <p:sldId id="268" r:id="rId12"/>
    <p:sldId id="269" r:id="rId13"/>
    <p:sldId id="260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9B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50" d="100"/>
          <a:sy n="50" d="100"/>
        </p:scale>
        <p:origin x="17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609F795F-56E3-E769-4F61-9E85EFCB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AE3129E5-53FA-2B9F-F071-63F53AD89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>
            <a:extLst>
              <a:ext uri="{FF2B5EF4-FFF2-40B4-BE49-F238E27FC236}">
                <a16:creationId xmlns:a16="http://schemas.microsoft.com/office/drawing/2014/main" id="{B3FCE0F8-8EFE-26A7-B508-D604A6422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566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64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gif"/><Relationship Id="rId5" Type="http://schemas.openxmlformats.org/officeDocument/2006/relationships/image" Target="../media/image10.png"/><Relationship Id="rId10" Type="http://schemas.openxmlformats.org/officeDocument/2006/relationships/image" Target="../media/image15.gif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gif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DEF63443-5752-430A-8B95-8C5AD5934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5BB6AD-AD2E-44F6-9D51-3EF54258F1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FE4EA7-CCE2-4A3A-937A-FB3DB2E2919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C1732A-C3CC-4B73-B172-E8E5EFA430D8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352630-D83F-4530-8710-90280B0B8DF9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105E37-A7C8-4105-8136-01F0032CA140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BA39AE-9E1B-4D47-9AC8-19907D83397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14F7D9-02D1-4C97-8BCD-E6F579EAB544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929F25-D073-45C8-849E-A564D501370E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66D25D-D7DB-47EC-AB20-F96E1DB76C8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2917BB-C86E-40D9-8D30-46585936E322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45793A-88AC-4957-AEF8-F8BA45D7963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5936AA-1188-4D24-8D99-A4FC9E9B6020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679E79-4D59-46F2-B2ED-B13C86AD0573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A87228-0D0F-4DB9-A12D-FBF74F66F7ED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7D85D4-9692-45BD-87AF-A48E5E30C74A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CCBD42-7CF7-4397-BFCC-8FF630B971C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E3B961-F96B-450B-8A88-0B163FDA9E66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3C8C87-1A6A-458F-BCCB-05DF8B5D07A5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45D337-9BE4-4B45-9536-5799926F191C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55A083-8A4A-4A2E-9874-01699AB1C45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E54851-781B-4624-9A16-958632998A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09EADF-FE19-47AB-BA69-14FB56D6AE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828800"/>
          </a:xfrm>
          <a:prstGeom prst="rect">
            <a:avLst/>
          </a:prstGeom>
          <a:solidFill>
            <a:srgbClr val="101A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kicker-01-marker">
            <a:extLst>
              <a:ext uri="{FF2B5EF4-FFF2-40B4-BE49-F238E27FC236}">
                <a16:creationId xmlns:a16="http://schemas.microsoft.com/office/drawing/2014/main" id="{F60DE7C8-F082-42BA-AF04-2ABE7686814E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kicker-01-label">
            <a:extLst>
              <a:ext uri="{FF2B5EF4-FFF2-40B4-BE49-F238E27FC236}">
                <a16:creationId xmlns:a16="http://schemas.microsoft.com/office/drawing/2014/main" id="{24FCB1CF-C292-4BCC-9735-B021A7A3B73F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P R O J E C T   T H E S I 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2AE4AC-9BB3-493F-A814-28F2022B7573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6F4EE"/>
                </a:solidFill>
                <a:latin typeface="Noto Serif SC"/>
                <a:ea typeface="Noto Serif SC"/>
                <a:cs typeface="Noto Serif SC"/>
              </a:defRPr>
            </a:pPr>
            <a:r>
              <a:rPr sz="2475" b="1">
                <a:solidFill>
                  <a:srgbClr val="F6F4EE"/>
                </a:solidFill>
                <a:latin typeface="Noto Serif SC"/>
                <a:ea typeface="Noto Serif SC"/>
                <a:cs typeface="Noto Serif SC"/>
              </a:rPr>
              <a:t>水果忍者：从“手势控制”到“行为数据驱动的自适应交互”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8838FF-690A-4AC0-9895-F81AAC73E14C}"/>
              </a:ext>
            </a:extLst>
          </p:cNvPr>
          <p:cNvSpPr>
            <a:spLocks noGrp="1"/>
          </p:cNvSpPr>
          <p:nvPr/>
        </p:nvSpPr>
        <p:spPr>
          <a:xfrm>
            <a:off x="609600" y="1931268"/>
            <a:ext cx="933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数据驱动的自适应体感交互游戏系统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7E29F0D-3F4F-41A9-AC8F-855B57828F68}"/>
              </a:ext>
            </a:extLst>
          </p:cNvPr>
          <p:cNvSpPr>
            <a:spLocks noGrp="1"/>
          </p:cNvSpPr>
          <p:nvPr/>
        </p:nvSpPr>
        <p:spPr>
          <a:xfrm>
            <a:off x="4448175" y="5686325"/>
            <a:ext cx="2095500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169A8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199B83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0733881-6457-4E31-8609-F09BB04302B6}"/>
              </a:ext>
            </a:extLst>
          </p:cNvPr>
          <p:cNvSpPr>
            <a:spLocks noGrp="1"/>
          </p:cNvSpPr>
          <p:nvPr/>
        </p:nvSpPr>
        <p:spPr>
          <a:xfrm>
            <a:off x="4595813" y="5771548"/>
            <a:ext cx="1828800" cy="8442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lvl="0" indent="0" algn="ctr" defTabSz="914400" rtl="0" eaLnBrk="1" fontAlgn="auto" latinLnBrk="0" hangingPunct="1"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1400">
                <a:solidFill>
                  <a:srgbClr val="199B83"/>
                </a:solidFill>
                <a:latin typeface="Urbanist" panose="02010600030101010101" charset="0"/>
                <a:ea typeface="Urbanist" panose="02010600030101010101" charset="0"/>
                <a:cs typeface="Urbanist" panose="02010600030101010101" charset="0"/>
                <a:sym typeface="Urbanist"/>
              </a:rPr>
              <a:t>2452098 </a:t>
            </a:r>
            <a:r>
              <a:rPr lang="zh-CN" altLang="en-US" sz="1400">
                <a:solidFill>
                  <a:srgbClr val="199B83"/>
                </a:solidFill>
                <a:latin typeface="Urbanist" panose="02010600030101010101" charset="0"/>
                <a:cs typeface="Urbanist" panose="02010600030101010101" charset="0"/>
                <a:sym typeface="Urbanist"/>
              </a:rPr>
              <a:t>赵崇治</a:t>
            </a:r>
            <a:endParaRPr lang="en-US" altLang="zh-CN" sz="1400">
              <a:solidFill>
                <a:srgbClr val="199B83"/>
              </a:solidFill>
              <a:latin typeface="Urbanist" panose="02010600030101010101" charset="0"/>
              <a:ea typeface="Urbanist" panose="02010600030101010101" charset="0"/>
              <a:cs typeface="Urbanist" panose="02010600030101010101" charset="0"/>
              <a:sym typeface="Urbanist"/>
            </a:endParaRPr>
          </a:p>
          <a:p>
            <a:pPr marL="0" lvl="0" indent="0" algn="ctr" defTabSz="914400" rtl="0" eaLnBrk="1" fontAlgn="auto" latinLnBrk="0" hangingPunct="1"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1400">
                <a:solidFill>
                  <a:srgbClr val="199B83"/>
                </a:solidFill>
                <a:latin typeface="Urbanist" panose="02010600030101010101" charset="0"/>
                <a:ea typeface="Urbanist" panose="02010600030101010101" charset="0"/>
                <a:cs typeface="Urbanist" panose="02010600030101010101" charset="0"/>
                <a:sym typeface="Urbanist"/>
              </a:rPr>
              <a:t>2451326 </a:t>
            </a:r>
            <a:r>
              <a:rPr lang="zh-CN" altLang="en-US" sz="1400">
                <a:solidFill>
                  <a:srgbClr val="199B83"/>
                </a:solidFill>
                <a:latin typeface="Urbanist" panose="02010600030101010101" charset="0"/>
                <a:cs typeface="Urbanist" panose="02010600030101010101" charset="0"/>
                <a:sym typeface="Urbanist"/>
              </a:rPr>
              <a:t>孙琮贺</a:t>
            </a:r>
            <a:endParaRPr lang="en-US" altLang="zh-CN" sz="1400">
              <a:solidFill>
                <a:srgbClr val="199B83"/>
              </a:solidFill>
              <a:latin typeface="Urbanist" panose="02010600030101010101" charset="0"/>
              <a:ea typeface="Urbanist" panose="02010600030101010101" charset="0"/>
              <a:cs typeface="Urbanist" panose="02010600030101010101" charset="0"/>
              <a:sym typeface="Urbanist"/>
            </a:endParaRPr>
          </a:p>
          <a:p>
            <a:pPr marL="0" lvl="0" indent="0" algn="ctr" defTabSz="914400" rtl="0" eaLnBrk="1" fontAlgn="auto" latinLnBrk="0" hangingPunct="1"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1400">
                <a:solidFill>
                  <a:srgbClr val="199B83"/>
                </a:solidFill>
                <a:latin typeface="Urbanist" panose="02010600030101010101" charset="0"/>
                <a:ea typeface="Urbanist" panose="02010600030101010101" charset="0"/>
                <a:cs typeface="Urbanist" panose="02010600030101010101" charset="0"/>
                <a:sym typeface="Urbanist"/>
              </a:rPr>
              <a:t>2450299 </a:t>
            </a:r>
            <a:r>
              <a:rPr lang="zh-CN" altLang="en-US" sz="1400">
                <a:solidFill>
                  <a:srgbClr val="199B83"/>
                </a:solidFill>
                <a:latin typeface="Urbanist" panose="02010600030101010101" charset="0"/>
                <a:cs typeface="Urbanist" panose="02010600030101010101" charset="0"/>
                <a:sym typeface="Urbanist"/>
              </a:rPr>
              <a:t>谢智行</a:t>
            </a:r>
            <a:endParaRPr lang="en-US" altLang="zh-CN" sz="1400">
              <a:solidFill>
                <a:srgbClr val="199B83"/>
              </a:solidFill>
              <a:latin typeface="Urbanist" panose="02010600030101010101" charset="0"/>
              <a:ea typeface="Urbanist" panose="02010600030101010101" charset="0"/>
              <a:cs typeface="Urbanist" panose="02010600030101010101" charset="0"/>
              <a:sym typeface="Urbanist"/>
            </a:endParaRPr>
          </a:p>
          <a:p>
            <a:pPr marL="0" lvl="0" indent="0" algn="ctr" defTabSz="914400" rtl="0" eaLnBrk="1" fontAlgn="auto" latinLnBrk="0" hangingPunct="1"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1400">
                <a:solidFill>
                  <a:srgbClr val="199B83"/>
                </a:solidFill>
                <a:latin typeface="Urbanist" panose="02010600030101010101" charset="0"/>
                <a:ea typeface="Urbanist" panose="02010600030101010101" charset="0"/>
                <a:cs typeface="Urbanist" panose="02010600030101010101" charset="0"/>
                <a:sym typeface="Urbanist"/>
              </a:rPr>
              <a:t>2452326 </a:t>
            </a:r>
            <a:r>
              <a:rPr lang="zh-CN" altLang="en-US" sz="1400">
                <a:solidFill>
                  <a:srgbClr val="199B83"/>
                </a:solidFill>
                <a:latin typeface="Urbanist" panose="02010600030101010101" charset="0"/>
                <a:cs typeface="Urbanist" panose="02010600030101010101" charset="0"/>
                <a:sym typeface="Urbanist"/>
              </a:rPr>
              <a:t>崔少坤</a:t>
            </a:r>
            <a:endParaRPr lang="en-US" altLang="zh-CN" sz="1400">
              <a:solidFill>
                <a:srgbClr val="199B83"/>
              </a:solidFill>
              <a:latin typeface="Urbanist" panose="02010600030101010101" charset="0"/>
              <a:ea typeface="Urbanist" panose="02010600030101010101" charset="0"/>
              <a:cs typeface="Urbanist" panose="02010600030101010101" charset="0"/>
              <a:sym typeface="Urbanist"/>
            </a:endParaRPr>
          </a:p>
          <a:p>
            <a:pPr algn="ctr" rtl="0">
              <a:buClr>
                <a:srgbClr val="000000"/>
              </a:buClr>
              <a:buFont typeface="Arial"/>
              <a:defRPr sz="900" b="1">
                <a:solidFill>
                  <a:srgbClr val="169A82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400">
              <a:solidFill>
                <a:srgbClr val="199B83"/>
              </a:solidFill>
              <a:latin typeface="Urbanist" panose="02010600030101010101" charset="0"/>
              <a:cs typeface="Urbanist" panose="02010600030101010101" charset="0"/>
              <a:sym typeface="Arial"/>
            </a:endParaRPr>
          </a:p>
          <a:p>
            <a:pPr algn="ctr" rtl="0">
              <a:buClr>
                <a:srgbClr val="000000"/>
              </a:buClr>
              <a:buFont typeface="Arial"/>
              <a:defRPr sz="900" b="1">
                <a:solidFill>
                  <a:srgbClr val="169A82"/>
                </a:solidFill>
                <a:latin typeface="Noto Sans SC"/>
                <a:ea typeface="Noto Sans SC"/>
                <a:cs typeface="Noto Sans SC"/>
              </a:defRPr>
            </a:pPr>
            <a:endParaRPr sz="1400">
              <a:solidFill>
                <a:srgbClr val="199B83"/>
              </a:solidFill>
              <a:latin typeface="Urbanist" panose="02010600030101010101" charset="0"/>
              <a:ea typeface="Urbanist" panose="02010600030101010101" charset="0"/>
              <a:cs typeface="Urbanist" panose="02010600030101010101" charset="0"/>
              <a:sym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5651F62-7768-4046-BD15-0A85F6169402}"/>
              </a:ext>
            </a:extLst>
          </p:cNvPr>
          <p:cNvSpPr>
            <a:spLocks noGrp="1"/>
          </p:cNvSpPr>
          <p:nvPr/>
        </p:nvSpPr>
        <p:spPr>
          <a:xfrm>
            <a:off x="609600" y="2540000"/>
            <a:ext cx="2952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62FDAB-B705-4E0A-9CB2-9DFEA2FCC008}"/>
              </a:ext>
            </a:extLst>
          </p:cNvPr>
          <p:cNvSpPr>
            <a:spLocks noGrp="1"/>
          </p:cNvSpPr>
          <p:nvPr/>
        </p:nvSpPr>
        <p:spPr>
          <a:xfrm>
            <a:off x="4152900" y="2540000"/>
            <a:ext cx="2952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D09193-43D4-4AA4-BAC4-02F02FF1A7FF}"/>
              </a:ext>
            </a:extLst>
          </p:cNvPr>
          <p:cNvSpPr>
            <a:spLocks noGrp="1"/>
          </p:cNvSpPr>
          <p:nvPr/>
        </p:nvSpPr>
        <p:spPr>
          <a:xfrm>
            <a:off x="7696200" y="2540000"/>
            <a:ext cx="2952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83BB2D-730A-4BA9-B885-296B24289B38}"/>
              </a:ext>
            </a:extLst>
          </p:cNvPr>
          <p:cNvSpPr>
            <a:spLocks noGrp="1"/>
          </p:cNvSpPr>
          <p:nvPr/>
        </p:nvSpPr>
        <p:spPr>
          <a:xfrm>
            <a:off x="876300" y="2787650"/>
            <a:ext cx="60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D11D14-EFF2-40A9-BD16-184048AB95DB}"/>
              </a:ext>
            </a:extLst>
          </p:cNvPr>
          <p:cNvSpPr>
            <a:spLocks noGrp="1"/>
          </p:cNvSpPr>
          <p:nvPr/>
        </p:nvSpPr>
        <p:spPr>
          <a:xfrm>
            <a:off x="1562100" y="2825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自然交互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D55374-2036-4D93-B3D9-B3E65CE7B9C1}"/>
              </a:ext>
            </a:extLst>
          </p:cNvPr>
          <p:cNvSpPr>
            <a:spLocks noGrp="1"/>
          </p:cNvSpPr>
          <p:nvPr/>
        </p:nvSpPr>
        <p:spPr>
          <a:xfrm>
            <a:off x="876300" y="332105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用摄像头/鼠标轨迹替代传统按键，让切割动作成为直接输入。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7C609D9-11C5-48F3-941C-6689A61CA505}"/>
              </a:ext>
            </a:extLst>
          </p:cNvPr>
          <p:cNvSpPr>
            <a:spLocks noGrp="1"/>
          </p:cNvSpPr>
          <p:nvPr/>
        </p:nvSpPr>
        <p:spPr>
          <a:xfrm>
            <a:off x="4419600" y="2787650"/>
            <a:ext cx="60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E6B4FB-82B7-4B65-BB01-02C3EADE27F1}"/>
              </a:ext>
            </a:extLst>
          </p:cNvPr>
          <p:cNvSpPr>
            <a:spLocks noGrp="1"/>
          </p:cNvSpPr>
          <p:nvPr/>
        </p:nvSpPr>
        <p:spPr>
          <a:xfrm>
            <a:off x="5105400" y="2825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数据闭环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C1182D-3B51-4176-98C2-A111F4CAE534}"/>
              </a:ext>
            </a:extLst>
          </p:cNvPr>
          <p:cNvSpPr>
            <a:spLocks noGrp="1"/>
          </p:cNvSpPr>
          <p:nvPr/>
        </p:nvSpPr>
        <p:spPr>
          <a:xfrm>
            <a:off x="4419600" y="332105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每局记录命中、轨迹覆盖、疲劳趋势，并在结算时解释下一步。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7FCA3BF-2A97-4A62-8FB7-C315C2308979}"/>
              </a:ext>
            </a:extLst>
          </p:cNvPr>
          <p:cNvSpPr>
            <a:spLocks noGrp="1"/>
          </p:cNvSpPr>
          <p:nvPr/>
        </p:nvSpPr>
        <p:spPr>
          <a:xfrm>
            <a:off x="7962900" y="2787650"/>
            <a:ext cx="60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94E41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C94E41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117D5BC-0CFC-46C1-A27A-BEE2AC3296D5}"/>
              </a:ext>
            </a:extLst>
          </p:cNvPr>
          <p:cNvSpPr>
            <a:spLocks noGrp="1"/>
          </p:cNvSpPr>
          <p:nvPr/>
        </p:nvSpPr>
        <p:spPr>
          <a:xfrm>
            <a:off x="8648700" y="28257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自适应体验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6AE9B71-F6C0-4353-B2A6-205A52A18CCF}"/>
              </a:ext>
            </a:extLst>
          </p:cNvPr>
          <p:cNvSpPr>
            <a:spLocks noGrp="1"/>
          </p:cNvSpPr>
          <p:nvPr/>
        </p:nvSpPr>
        <p:spPr>
          <a:xfrm>
            <a:off x="7962900" y="332105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下一局灵敏度自动微调，降低手动调参成本，服务心流体验。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A13003-86B9-4C9F-AF9C-C0CA19BBBE19}"/>
              </a:ext>
            </a:extLst>
          </p:cNvPr>
          <p:cNvSpPr>
            <a:spLocks noGrp="1"/>
          </p:cNvSpPr>
          <p:nvPr/>
        </p:nvSpPr>
        <p:spPr>
          <a:xfrm>
            <a:off x="704850" y="4597400"/>
            <a:ext cx="9525" cy="55245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EA61594-22AA-49CB-A77F-82A274F0A1A5}"/>
              </a:ext>
            </a:extLst>
          </p:cNvPr>
          <p:cNvSpPr>
            <a:spLocks noGrp="1"/>
          </p:cNvSpPr>
          <p:nvPr/>
        </p:nvSpPr>
        <p:spPr>
          <a:xfrm>
            <a:off x="857250" y="4692650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rPr>
              <a:t>45ms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EB2721-1CB2-4E8A-BB0E-F033996E5222}"/>
              </a:ext>
            </a:extLst>
          </p:cNvPr>
          <p:cNvSpPr>
            <a:spLocks noGrp="1"/>
          </p:cNvSpPr>
          <p:nvPr/>
        </p:nvSpPr>
        <p:spPr>
          <a:xfrm>
            <a:off x="857250" y="50927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手势行为采样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E782B5-11BC-4DE7-AC34-89F7C4100F04}"/>
              </a:ext>
            </a:extLst>
          </p:cNvPr>
          <p:cNvSpPr>
            <a:spLocks noGrp="1"/>
          </p:cNvSpPr>
          <p:nvPr/>
        </p:nvSpPr>
        <p:spPr>
          <a:xfrm>
            <a:off x="2800350" y="4597400"/>
            <a:ext cx="9525" cy="55245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AA9D1C-1BC1-4896-A0EC-8DABE264A71E}"/>
              </a:ext>
            </a:extLst>
          </p:cNvPr>
          <p:cNvSpPr>
            <a:spLocks noGrp="1"/>
          </p:cNvSpPr>
          <p:nvPr/>
        </p:nvSpPr>
        <p:spPr>
          <a:xfrm>
            <a:off x="2952750" y="4692650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rPr>
              <a:t>3x3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2D815C8-30C2-4767-91F9-0CE097E82097}"/>
              </a:ext>
            </a:extLst>
          </p:cNvPr>
          <p:cNvSpPr>
            <a:spLocks noGrp="1"/>
          </p:cNvSpPr>
          <p:nvPr/>
        </p:nvSpPr>
        <p:spPr>
          <a:xfrm>
            <a:off x="2952750" y="50927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轨迹覆盖分析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1E8F112-AE7C-43E4-AE0E-D5A39DB135B5}"/>
              </a:ext>
            </a:extLst>
          </p:cNvPr>
          <p:cNvSpPr>
            <a:spLocks noGrp="1"/>
          </p:cNvSpPr>
          <p:nvPr/>
        </p:nvSpPr>
        <p:spPr>
          <a:xfrm>
            <a:off x="4895850" y="4597400"/>
            <a:ext cx="9525" cy="55245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8741D57-6E0B-450B-9D25-1A86DE730D11}"/>
              </a:ext>
            </a:extLst>
          </p:cNvPr>
          <p:cNvSpPr>
            <a:spLocks noGrp="1"/>
          </p:cNvSpPr>
          <p:nvPr/>
        </p:nvSpPr>
        <p:spPr>
          <a:xfrm>
            <a:off x="5048250" y="469265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rPr>
              <a:t>0.78-1.38x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F4E6AC4-F087-44C6-BE6C-B65F3FCB1ED4}"/>
              </a:ext>
            </a:extLst>
          </p:cNvPr>
          <p:cNvSpPr>
            <a:spLocks noGrp="1"/>
          </p:cNvSpPr>
          <p:nvPr/>
        </p:nvSpPr>
        <p:spPr>
          <a:xfrm>
            <a:off x="5048250" y="50927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灵敏度范围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996A5B4-0D1D-4D3E-9D1F-E2BF4BCA6791}"/>
              </a:ext>
            </a:extLst>
          </p:cNvPr>
          <p:cNvSpPr>
            <a:spLocks noGrp="1"/>
          </p:cNvSpPr>
          <p:nvPr/>
        </p:nvSpPr>
        <p:spPr>
          <a:xfrm>
            <a:off x="7562850" y="4597400"/>
            <a:ext cx="9525" cy="552450"/>
          </a:xfrm>
          <a:prstGeom prst="rect">
            <a:avLst/>
          </a:prstGeom>
          <a:solidFill>
            <a:srgbClr val="C94E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B3E13A2-8141-4CB7-9645-0886AE858950}"/>
              </a:ext>
            </a:extLst>
          </p:cNvPr>
          <p:cNvSpPr>
            <a:spLocks noGrp="1"/>
          </p:cNvSpPr>
          <p:nvPr/>
        </p:nvSpPr>
        <p:spPr>
          <a:xfrm>
            <a:off x="7715250" y="46926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94E41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C94E41"/>
                </a:solidFill>
                <a:latin typeface="Noto Serif SC"/>
                <a:ea typeface="Noto Serif SC"/>
                <a:cs typeface="Noto Serif SC"/>
              </a:rPr>
              <a:t>4+1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F84EC78-CA95-43BB-92A2-88F0C00FDBB6}"/>
              </a:ext>
            </a:extLst>
          </p:cNvPr>
          <p:cNvSpPr>
            <a:spLocks noGrp="1"/>
          </p:cNvSpPr>
          <p:nvPr/>
        </p:nvSpPr>
        <p:spPr>
          <a:xfrm>
            <a:off x="7715250" y="5092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模式数量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6A357B1-C00C-4CAC-9284-DAA5EBD9E994}"/>
              </a:ext>
            </a:extLst>
          </p:cNvPr>
          <p:cNvSpPr>
            <a:spLocks noGrp="1"/>
          </p:cNvSpPr>
          <p:nvPr/>
        </p:nvSpPr>
        <p:spPr>
          <a:xfrm>
            <a:off x="571500" y="54737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7BD58B9-FF37-4124-AC73-C80DF1D0B65D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开场 35 秒：先讲清楚项目定位，避免被理解成简单 API 调用。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DFC2B3C-5817-415E-B8E1-6FC1CBFBF18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9606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5B5C37B-50F3-4888-9FD3-08BAD19C4A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8267C8-FFC2-4F09-AC88-A773126C1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CAE2AE-5490-42B1-B40B-E7261C710AE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9F64F8-3044-43B1-B5B0-1CDBAE082D7A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6E9C61-C4A4-4F29-9DDB-DAF4DC60D357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B40E2B-14BB-48C1-8083-359436A4DF9B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83EB8F-C38D-461D-9FDC-FA4B8900FC0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E36171-DAA5-4987-ACE2-F14F9324F26B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EC4CA8-B51E-468A-A9B1-E76C26AB59C3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3F6245-FC09-4A0E-805F-EB3BA9117475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C667C5-062F-4EB2-9B2A-C39A15B600E0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E82532-636D-4C59-844F-2F6022DFD92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689276-8504-44E6-96DB-CD306FF79010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630FA6-C766-4E86-95D6-04F6DE930F3D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F65803-E046-49B5-BF6E-E517290FBA63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5D981A-78BF-4B14-B465-A4387E26DAE7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A48569-0A30-4E79-AF3A-835312F73EE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8036AD-05D4-40C3-9E71-A0A834EEC7A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BB2ED9-94C1-47BC-B7FC-783178E1435D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85BA3F-1753-49AD-92E2-75B56D6E6B55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A29E36-9506-420C-8A14-DE7F3F45713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icker-07-marker">
            <a:extLst>
              <a:ext uri="{FF2B5EF4-FFF2-40B4-BE49-F238E27FC236}">
                <a16:creationId xmlns:a16="http://schemas.microsoft.com/office/drawing/2014/main" id="{14A88BB5-35D8-4895-A052-33F4A8A3E826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icker-07-label">
            <a:extLst>
              <a:ext uri="{FF2B5EF4-FFF2-40B4-BE49-F238E27FC236}">
                <a16:creationId xmlns:a16="http://schemas.microsoft.com/office/drawing/2014/main" id="{6BE93C21-4020-4E8D-8049-98A174B556D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C O N T R I B U T I O 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AB970B-FD79-4473-90FD-F068675AAF26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895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团队</a:t>
            </a:r>
            <a:r>
              <a: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分工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C99C9B-79F5-4E66-96D6-CC61B0351F3D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10001250" cy="438150"/>
          </a:xfrm>
          <a:prstGeom prst="rect">
            <a:avLst/>
          </a:prstGeom>
          <a:solidFill>
            <a:srgbClr val="F0F4E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BF0FAA-2C50-411F-850E-9BA935739333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赵崇治</a:t>
            </a:r>
            <a:endParaRPr sz="1200" b="1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4A235F-7205-4405-9A74-E1D68413161F}"/>
              </a:ext>
            </a:extLst>
          </p:cNvPr>
          <p:cNvSpPr>
            <a:spLocks noGrp="1"/>
          </p:cNvSpPr>
          <p:nvPr/>
        </p:nvSpPr>
        <p:spPr>
          <a:xfrm>
            <a:off x="2381250" y="2466975"/>
            <a:ext cx="1181100" cy="26670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4D7E28-110C-4654-AD77-AF480B2C7E30}"/>
              </a:ext>
            </a:extLst>
          </p:cNvPr>
          <p:cNvSpPr>
            <a:spLocks noGrp="1"/>
          </p:cNvSpPr>
          <p:nvPr/>
        </p:nvSpPr>
        <p:spPr>
          <a:xfrm>
            <a:off x="2476500" y="2524125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算法与逻辑层</a:t>
            </a:r>
            <a:endParaRPr sz="7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B4B69F-F214-4F39-AA5B-EED4260362B6}"/>
              </a:ext>
            </a:extLst>
          </p:cNvPr>
          <p:cNvSpPr>
            <a:spLocks noGrp="1"/>
          </p:cNvSpPr>
          <p:nvPr/>
        </p:nvSpPr>
        <p:spPr>
          <a:xfrm>
            <a:off x="3905250" y="248602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MediaPipe </a:t>
            </a: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手势模型调优、自适应灵敏度算法实现、表情识别、多人模式、功能验收</a:t>
            </a:r>
          </a:p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endParaRPr sz="1125" b="0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B98A8C-97D8-411C-ACD9-ADD6B1F128D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10001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DDFA7B-8B7B-43F5-8CFC-38A7ED0439EE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孙琮贺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2D796B-C2B6-4E9E-8B0B-735C1D18A0B5}"/>
              </a:ext>
            </a:extLst>
          </p:cNvPr>
          <p:cNvSpPr>
            <a:spLocks noGrp="1"/>
          </p:cNvSpPr>
          <p:nvPr/>
        </p:nvSpPr>
        <p:spPr>
          <a:xfrm>
            <a:off x="2381250" y="3057525"/>
            <a:ext cx="1181100" cy="26670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1C04BC-F0A3-4ACA-B568-C99DE33ECC54}"/>
              </a:ext>
            </a:extLst>
          </p:cNvPr>
          <p:cNvSpPr>
            <a:spLocks noGrp="1"/>
          </p:cNvSpPr>
          <p:nvPr/>
        </p:nvSpPr>
        <p:spPr>
          <a:xfrm>
            <a:off x="2476500" y="3114675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渲染引擎层</a:t>
            </a:r>
            <a:r>
              <a: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i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100B5A6-0F26-419C-BEDD-92C0091587FE}"/>
              </a:ext>
            </a:extLst>
          </p:cNvPr>
          <p:cNvSpPr>
            <a:spLocks noGrp="1"/>
          </p:cNvSpPr>
          <p:nvPr/>
        </p:nvSpPr>
        <p:spPr>
          <a:xfrm>
            <a:off x="3905250" y="307657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Canvas 2D </a:t>
            </a: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粒子系统、物理碰撞检测、</a:t>
            </a:r>
            <a:r>
              <a:rPr lang="en-US" altLang="zh-CN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Web Audio </a:t>
            </a: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音频引擎、连击逻辑</a:t>
            </a:r>
          </a:p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endParaRPr sz="1125" b="0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F82017E-1D40-4B45-9773-ECE22846D177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10001250" cy="438150"/>
          </a:xfrm>
          <a:prstGeom prst="rect">
            <a:avLst/>
          </a:prstGeom>
          <a:solidFill>
            <a:srgbClr val="F0F4E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8D24F2-35E3-490C-94B5-A8AE98ADE05D}"/>
              </a:ext>
            </a:extLst>
          </p:cNvPr>
          <p:cNvSpPr>
            <a:spLocks noGrp="1"/>
          </p:cNvSpPr>
          <p:nvPr/>
        </p:nvSpPr>
        <p:spPr>
          <a:xfrm>
            <a:off x="1028700" y="36766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谢智行</a:t>
            </a:r>
            <a:endParaRPr sz="1200" b="1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ADCAB5-C8C3-4419-AAAB-0FCAF7954E8D}"/>
              </a:ext>
            </a:extLst>
          </p:cNvPr>
          <p:cNvSpPr>
            <a:spLocks noGrp="1"/>
          </p:cNvSpPr>
          <p:nvPr/>
        </p:nvSpPr>
        <p:spPr>
          <a:xfrm>
            <a:off x="2381250" y="3648075"/>
            <a:ext cx="1181100" cy="26670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F389EE-261C-4248-98F4-744D3229B9DF}"/>
              </a:ext>
            </a:extLst>
          </p:cNvPr>
          <p:cNvSpPr>
            <a:spLocks noGrp="1"/>
          </p:cNvSpPr>
          <p:nvPr/>
        </p:nvSpPr>
        <p:spPr>
          <a:xfrm>
            <a:off x="2476500" y="3705225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交互</a:t>
            </a:r>
            <a:r>
              <a:rPr lang="en-US" altLang="zh-CN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UI</a:t>
            </a:r>
            <a:r>
              <a:rPr lang="zh-CN" altLang="en-US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层</a:t>
            </a:r>
            <a:endParaRPr sz="7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011843-90E5-44F6-B9B4-11FCCC38474F}"/>
              </a:ext>
            </a:extLst>
          </p:cNvPr>
          <p:cNvSpPr>
            <a:spLocks noGrp="1"/>
          </p:cNvSpPr>
          <p:nvPr/>
        </p:nvSpPr>
        <p:spPr>
          <a:xfrm>
            <a:off x="3905250" y="366712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道具系统、响应式 </a:t>
            </a:r>
            <a:r>
              <a:rPr lang="en-US" altLang="zh-CN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HUD </a:t>
            </a: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设计、难度设计、多人模式、</a:t>
            </a:r>
            <a:r>
              <a:rPr lang="en-US" altLang="zh-CN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ppt</a:t>
            </a:r>
          </a:p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endParaRPr sz="1125" b="0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44E621C-CFB4-4206-9EB2-DBF2A4EAC58C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10001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4F7C1A-24E1-49D0-9B94-F019539E24DF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崔少坤</a:t>
            </a:r>
            <a:endParaRPr sz="1200" b="1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6DFADF-3B9F-4E1A-BEF3-FCC6CDD1FBD5}"/>
              </a:ext>
            </a:extLst>
          </p:cNvPr>
          <p:cNvSpPr>
            <a:spLocks noGrp="1"/>
          </p:cNvSpPr>
          <p:nvPr/>
        </p:nvSpPr>
        <p:spPr>
          <a:xfrm>
            <a:off x="2381250" y="4238625"/>
            <a:ext cx="1181100" cy="266700"/>
          </a:xfrm>
          <a:prstGeom prst="rect">
            <a:avLst/>
          </a:prstGeom>
          <a:solidFill>
            <a:srgbClr val="7562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D5D8BF8-AFA3-4364-91B9-164CA116E64C}"/>
              </a:ext>
            </a:extLst>
          </p:cNvPr>
          <p:cNvSpPr>
            <a:spLocks noGrp="1"/>
          </p:cNvSpPr>
          <p:nvPr/>
        </p:nvSpPr>
        <p:spPr>
          <a:xfrm>
            <a:off x="2476500" y="4295775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数据与反馈层</a:t>
            </a:r>
            <a:endParaRPr sz="7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E11FC6A-721B-4EED-969F-194234DB14E1}"/>
              </a:ext>
            </a:extLst>
          </p:cNvPr>
          <p:cNvSpPr>
            <a:spLocks noGrp="1"/>
          </p:cNvSpPr>
          <p:nvPr/>
        </p:nvSpPr>
        <p:spPr>
          <a:xfrm>
            <a:off x="3905250" y="425767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前期框架设计、确定方向、设置界面开发、用户行为数据采集</a:t>
            </a:r>
          </a:p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endParaRPr sz="1125" b="0">
              <a:solidFill>
                <a:srgbClr val="1722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E12832F-0DE5-4F39-B976-3AC381EBD14E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10001250" cy="438150"/>
          </a:xfrm>
          <a:prstGeom prst="rect">
            <a:avLst/>
          </a:prstGeom>
          <a:solidFill>
            <a:srgbClr val="F0F4E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58B6AB0-DA09-4DCB-B606-6EBF7809CB9E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共同维护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104C31-1400-49D3-B084-F225F2C40373}"/>
              </a:ext>
            </a:extLst>
          </p:cNvPr>
          <p:cNvSpPr>
            <a:spLocks noGrp="1"/>
          </p:cNvSpPr>
          <p:nvPr/>
        </p:nvSpPr>
        <p:spPr>
          <a:xfrm>
            <a:off x="2381250" y="4829175"/>
            <a:ext cx="1181100" cy="266700"/>
          </a:xfrm>
          <a:prstGeom prst="rect">
            <a:avLst/>
          </a:prstGeom>
          <a:solidFill>
            <a:srgbClr val="C94E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9C5977A-686E-481B-B4FF-0FFD39883AF9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bugs / PR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0EC6A82-D278-4F78-BE09-330243D6419F}"/>
              </a:ext>
            </a:extLst>
          </p:cNvPr>
          <p:cNvSpPr>
            <a:spLocks noGrp="1"/>
          </p:cNvSpPr>
          <p:nvPr/>
        </p:nvSpPr>
        <p:spPr>
          <a:xfrm>
            <a:off x="3905250" y="484822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联调、冲突处理、Bug 修复、功能验收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F787DBA-94F3-4BF9-92EC-90A034BDE9F7}"/>
              </a:ext>
            </a:extLst>
          </p:cNvPr>
          <p:cNvSpPr>
            <a:spLocks noGrp="1"/>
          </p:cNvSpPr>
          <p:nvPr/>
        </p:nvSpPr>
        <p:spPr>
          <a:xfrm>
            <a:off x="762000" y="5734050"/>
            <a:ext cx="10001250" cy="457200"/>
          </a:xfrm>
          <a:prstGeom prst="rect">
            <a:avLst/>
          </a:prstGeom>
          <a:solidFill>
            <a:srgbClr val="101A1D"/>
          </a:solidFill>
          <a:ln w="9525">
            <a:solidFill>
              <a:srgbClr val="101A1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464155F-6A48-4212-860C-AE8CA6C95C3A}"/>
              </a:ext>
            </a:extLst>
          </p:cNvPr>
          <p:cNvSpPr>
            <a:spLocks noGrp="1"/>
          </p:cNvSpPr>
          <p:nvPr/>
        </p:nvSpPr>
        <p:spPr>
          <a:xfrm>
            <a:off x="1028700" y="5829300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6F4E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6F4EE"/>
                </a:solidFill>
                <a:latin typeface="Noto Sans SC"/>
                <a:ea typeface="Noto Sans SC"/>
                <a:cs typeface="Noto Sans SC"/>
              </a:rPr>
              <a:t>HCI 原型。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4869B2B-D8C0-44C1-A9D9-8F4500F21044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C4B2C5B-2B8E-420A-84F0-74F2F22F1C0A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结尾 30 秒：回扣创新点，再邀请老师看现场演示或代码。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82EF406-E720-40FC-B859-031E9BD72BB4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559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14587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14587"/>
            <a:ext cx="349254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94237" y="3576637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BA4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Poppins"/>
                <a:sym typeface="Poppins"/>
              </a:rPr>
              <a:t>交互逻辑</a:t>
            </a:r>
            <a:endParaRPr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119562"/>
            <a:ext cx="2711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基于 </a:t>
            </a:r>
            <a:r>
              <a:rPr lang="en-US" sz="1500" b="1" i="0" u="none" strike="noStrike" cap="none">
                <a:solidFill>
                  <a:srgbClr val="7EF7C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Direct Manipulation</a:t>
            </a: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 原则，将真实手势映射为虚拟刀刃，实现无接触交互。</a:t>
            </a:r>
            <a:endParaRPr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672537" y="3576637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/>
            <a:r>
              <a:rPr lang="en-US" sz="2100" b="1">
                <a:solidFill>
                  <a:srgbClr val="DBA4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Poppins"/>
                <a:sym typeface="Poppins"/>
              </a:rPr>
              <a:t>机器视觉</a:t>
            </a:r>
            <a:endParaRPr sz="2100" b="1">
              <a:solidFill>
                <a:srgbClr val="DBA4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Poppi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740324" y="4119562"/>
            <a:ext cx="2711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使用 </a:t>
            </a:r>
            <a:r>
              <a:rPr lang="en-US" sz="1500" b="1" i="0" u="none" strike="noStrike" cap="none">
                <a:solidFill>
                  <a:srgbClr val="7EF7C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MediaPipe Hands</a:t>
            </a: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 实时追踪 21 个手部关键点，延迟低于 35ms。</a:t>
            </a:r>
            <a:endParaRPr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450836" y="3576637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/>
            <a:r>
              <a:rPr lang="en-US" sz="2100" b="1">
                <a:solidFill>
                  <a:srgbClr val="DBA4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Poppins"/>
                <a:sym typeface="Poppins"/>
              </a:rPr>
              <a:t>渲染引擎</a:t>
            </a:r>
            <a:endParaRPr sz="2100" b="1">
              <a:solidFill>
                <a:srgbClr val="DBA4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Poppi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18624" y="4119562"/>
            <a:ext cx="2711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采用 </a:t>
            </a:r>
            <a:r>
              <a:rPr lang="en-US" sz="1500" b="1" i="0" u="none" strike="noStrike" cap="none">
                <a:solidFill>
                  <a:srgbClr val="7EF7C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Canvas 2D</a:t>
            </a:r>
            <a:r>
              <a:rPr lang="en-US" sz="1500" b="0" i="0" u="none" strike="noStrike" cap="none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Urbanist"/>
                <a:sym typeface="Urbanist"/>
              </a:rPr>
              <a:t> 高频渲染粒子特效与物理反馈，确保 60FPS 流畅度。</a:t>
            </a:r>
            <a:endParaRPr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84321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432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84321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kicker-06-marker">
            <a:extLst>
              <a:ext uri="{FF2B5EF4-FFF2-40B4-BE49-F238E27FC236}">
                <a16:creationId xmlns:a16="http://schemas.microsoft.com/office/drawing/2014/main" id="{8121009E-60CC-EF92-C9DF-510932A34416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7562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ADE47E51-B361-87A3-C1EA-7F5AF02AC58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E N G I N E E R I N 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7B7D51-ACA8-6121-E1CD-5B49DE3E0EAD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9048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2850" b="1">
                <a:solidFill>
                  <a:schemeClr val="bg1"/>
                </a:solidFill>
                <a:latin typeface="Noto Serif SC"/>
                <a:ea typeface="Noto Serif SC"/>
                <a:cs typeface="Noto Serif SC"/>
              </a:rPr>
              <a:t>项目实现技术栈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F481B92B-44B8-48A7-8638-EDB6182E0D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D31979-287F-45ED-B4F9-D47BD95B34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21F5A-94F3-4F73-9E5B-06306557136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D41E00-1955-473A-AD20-1D78736C966F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A1AABC-78A8-45AE-ADA2-B53BD9AFD0B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D0307-39C3-4E5C-8C54-F0937E022EB5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AD07AD-E7F6-49FA-BCD8-C0246F708B1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30B33B-7706-483B-83A6-A531929C99DD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CD882B-758A-402C-92EE-5F2852EC79C0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B6B5B9-254A-4621-85C0-E0E0F1E2DDA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B6313F-861C-4EEB-A0C9-550BA80A422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9C6CC1-EC71-4353-B896-37F02B830EE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64F514-86F5-4D71-A1BC-097C3A9B2E7B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EFE341-A221-4D1E-90F4-8C115325B751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C7DFF2-CC00-4881-8ED4-0109BDD28286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F995EA-F990-4583-AED2-D31B29FB105F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291084-89E6-4A69-A0D0-466915F0ACB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81DE50-BB02-433F-9B72-0A2CEDF18EB8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115CFE-20B1-4749-AC3B-4970F0581F79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654638-7E71-42F3-B514-10D87767F575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9B1BEB-63E8-45F1-8A6A-DFCDF0CAF7D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icker-06-marker">
            <a:extLst>
              <a:ext uri="{FF2B5EF4-FFF2-40B4-BE49-F238E27FC236}">
                <a16:creationId xmlns:a16="http://schemas.microsoft.com/office/drawing/2014/main" id="{689BFC9E-8F74-4652-ABE4-FDCF68B2ECB0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7562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icker-06-label">
            <a:extLst>
              <a:ext uri="{FF2B5EF4-FFF2-40B4-BE49-F238E27FC236}">
                <a16:creationId xmlns:a16="http://schemas.microsoft.com/office/drawing/2014/main" id="{47A2F634-B397-4025-91ED-E06CA4B8222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E N G I N E E R I N </a:t>
            </a:r>
            <a:r>
              <a:rPr lang="en-US" altLang="zh-CN"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G</a:t>
            </a:r>
            <a:endParaRPr sz="750" b="1">
              <a:solidFill>
                <a:srgbClr val="64706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78C411-B05F-45AD-A002-521C994342F2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9048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285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项目实现技术栈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59DD5D-9398-449A-A5BF-EAA9ED4B733F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2476500" cy="49530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EB8729-2A29-4992-9225-E33C408638B3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index.html + CSS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142289-6D84-4916-B51A-8C58A253EB05}"/>
              </a:ext>
            </a:extLst>
          </p:cNvPr>
          <p:cNvSpPr>
            <a:spLocks noGrp="1"/>
          </p:cNvSpPr>
          <p:nvPr/>
        </p:nvSpPr>
        <p:spPr>
          <a:xfrm>
            <a:off x="3562350" y="1866900"/>
            <a:ext cx="5810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DF1167-9814-4A18-8360-995D38D14E96}"/>
              </a:ext>
            </a:extLst>
          </p:cNvPr>
          <p:cNvSpPr>
            <a:spLocks noGrp="1"/>
          </p:cNvSpPr>
          <p:nvPr/>
        </p:nvSpPr>
        <p:spPr>
          <a:xfrm>
            <a:off x="3790950" y="20002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页面入口、HUD、响应式布局、Canvas 容器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6B1400-1036-4047-A897-72989BE28096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476500" cy="49530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8DB54C2-78F0-4B85-8741-B396BD5A7E63}"/>
              </a:ext>
            </a:extLst>
          </p:cNvPr>
          <p:cNvSpPr>
            <a:spLocks noGrp="1"/>
          </p:cNvSpPr>
          <p:nvPr/>
        </p:nvSpPr>
        <p:spPr>
          <a:xfrm>
            <a:off x="990600" y="28194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</a:t>
            </a:r>
            <a:r>
              <a:rPr lang="en-US"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e</a:t>
            </a: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</a:t>
            </a:r>
            <a:r>
              <a:rPr lang="en-US"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i</a:t>
            </a: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apipe.js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DB3D20-76F5-47FF-A56A-9BBEE6105209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5810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CE138E-4F29-4DC7-80F7-FF6DAE756E38}"/>
              </a:ext>
            </a:extLst>
          </p:cNvPr>
          <p:cNvSpPr>
            <a:spLocks noGrp="1"/>
          </p:cNvSpPr>
          <p:nvPr/>
        </p:nvSpPr>
        <p:spPr>
          <a:xfrm>
            <a:off x="3790950" y="28194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摄像头、MediaPipe Hands / Face Mesh、手势与表情状态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A3E917-AC9D-465D-A716-42B3EDC5E822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2476500" cy="49530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F07525-0FF1-46FD-9952-130AD398E958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main.js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171E06-4C81-4935-BB6E-97C96194242E}"/>
              </a:ext>
            </a:extLst>
          </p:cNvPr>
          <p:cNvSpPr>
            <a:spLocks noGrp="1"/>
          </p:cNvSpPr>
          <p:nvPr/>
        </p:nvSpPr>
        <p:spPr>
          <a:xfrm>
            <a:off x="3562350" y="3505200"/>
            <a:ext cx="5810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D9042F-9E9F-4EE2-B5E7-9B981A43091F}"/>
              </a:ext>
            </a:extLst>
          </p:cNvPr>
          <p:cNvSpPr>
            <a:spLocks noGrp="1"/>
          </p:cNvSpPr>
          <p:nvPr/>
        </p:nvSpPr>
        <p:spPr>
          <a:xfrm>
            <a:off x="3790950" y="36385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状态机、物理、碰撞、计分、道具、自适应算法、结算报告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EBC8F6D-BD3C-4E31-B3DC-80E34DC27EFB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2476500" cy="495300"/>
          </a:xfrm>
          <a:prstGeom prst="rect">
            <a:avLst/>
          </a:prstGeom>
          <a:solidFill>
            <a:srgbClr val="C94E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DDB4322-50BA-48F9-B686-454DED954924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audio.js + assets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4809BF2-3502-4572-9C93-F30DBCF8858A}"/>
              </a:ext>
            </a:extLst>
          </p:cNvPr>
          <p:cNvSpPr>
            <a:spLocks noGrp="1"/>
          </p:cNvSpPr>
          <p:nvPr/>
        </p:nvSpPr>
        <p:spPr>
          <a:xfrm>
            <a:off x="3562350" y="4324350"/>
            <a:ext cx="5810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B4FEBD-DA8A-4A33-980F-1925517F00E7}"/>
              </a:ext>
            </a:extLst>
          </p:cNvPr>
          <p:cNvSpPr>
            <a:spLocks noGrp="1"/>
          </p:cNvSpPr>
          <p:nvPr/>
        </p:nvSpPr>
        <p:spPr>
          <a:xfrm>
            <a:off x="3790950" y="44577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多模式 BGM、命中/爆炸/时停音效、音量控制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83C57A9-3642-4A85-B7D4-54738ECB1952}"/>
              </a:ext>
            </a:extLst>
          </p:cNvPr>
          <p:cNvSpPr>
            <a:spLocks noGrp="1"/>
          </p:cNvSpPr>
          <p:nvPr/>
        </p:nvSpPr>
        <p:spPr>
          <a:xfrm>
            <a:off x="9601200" y="2971800"/>
            <a:ext cx="400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A7B0AB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7B0A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CC9CFA1-BC2C-42FF-98CB-95700559E01D}"/>
              </a:ext>
            </a:extLst>
          </p:cNvPr>
          <p:cNvSpPr>
            <a:spLocks noGrp="1"/>
          </p:cNvSpPr>
          <p:nvPr/>
        </p:nvSpPr>
        <p:spPr>
          <a:xfrm>
            <a:off x="10001250" y="2171700"/>
            <a:ext cx="1238250" cy="2000250"/>
          </a:xfrm>
          <a:prstGeom prst="rect">
            <a:avLst/>
          </a:prstGeom>
          <a:solidFill>
            <a:srgbClr val="101A1D"/>
          </a:solidFill>
          <a:ln w="9525">
            <a:solidFill>
              <a:srgbClr val="101A1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683059-540C-43DD-8A69-4FB2236FC8A3}"/>
              </a:ext>
            </a:extLst>
          </p:cNvPr>
          <p:cNvSpPr>
            <a:spLocks noGrp="1"/>
          </p:cNvSpPr>
          <p:nvPr/>
        </p:nvSpPr>
        <p:spPr>
          <a:xfrm>
            <a:off x="10172700" y="2457450"/>
            <a:ext cx="914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6F4E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6F4EE"/>
                </a:solidFill>
                <a:latin typeface="Noto Sans SC"/>
                <a:ea typeface="Noto Sans SC"/>
                <a:cs typeface="Noto Sans SC"/>
              </a:rPr>
              <a:t>用户看到的是游戏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6324AC8-B474-4946-9331-09D3C3E95388}"/>
              </a:ext>
            </a:extLst>
          </p:cNvPr>
          <p:cNvSpPr>
            <a:spLocks noGrp="1"/>
          </p:cNvSpPr>
          <p:nvPr/>
        </p:nvSpPr>
        <p:spPr>
          <a:xfrm>
            <a:off x="10229850" y="3124200"/>
            <a:ext cx="781050" cy="28575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8FD8E87-A2D8-4D22-ACCD-3356916B5574}"/>
              </a:ext>
            </a:extLst>
          </p:cNvPr>
          <p:cNvSpPr>
            <a:spLocks noGrp="1"/>
          </p:cNvSpPr>
          <p:nvPr/>
        </p:nvSpPr>
        <p:spPr>
          <a:xfrm>
            <a:off x="10172700" y="33528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DE6E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DE6E2"/>
                </a:solidFill>
                <a:latin typeface="Noto Sans SC"/>
                <a:ea typeface="Noto Sans SC"/>
                <a:cs typeface="Noto Sans SC"/>
              </a:rPr>
              <a:t>老师追问时能落到代码证据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3426C0B-1C86-4AC5-AEFE-D7770B106BF8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738F882-EA2C-403B-B5CD-5541BAC05FFF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讲法：证明项目不是一个文件堆到底，且参数能回到代码。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90E7EC-6DFB-4C33-AAE6-1EE57734D12B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592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E11EBA3F-C5AA-44B8-B706-752F59A570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F168C0-16C6-444C-8F30-D097157126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ED511-2755-4F6F-8EEF-73CF5AC4801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CD66B5-76D9-4B12-889D-C174E916AA6D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02C3E5-1024-4731-B417-49655440B33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2F18DD-725F-4AE4-ACDE-43B53F5FD499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E3FC30-AB74-4452-B5F5-EA288F2E6EF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F188F9-174E-49FD-BCAF-E47B454CFCA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BAC9B4-7663-4DA2-AD05-3D00F3291C71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25DF9-D0F5-4D69-9703-C0E8AA555FF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DBDDFB-5A55-433B-ABA6-E811DA53456B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8BE39B-D55B-4041-8E2E-FDEEC9F8712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362889-A8A2-4AFB-971F-26D40162C76C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847D65-2B96-46AB-9F36-E8A404C21D84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1B2558-D155-4D51-804F-CF9DADF8B800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4ADCBB-AE4C-4311-9DA8-0BA63CB472BB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00B3E5-9B92-4600-8A1E-63E4042303D5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61F1FB-8052-4323-91DD-F522B6FDCCB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8CA869-1C00-4675-AB63-7E0242F28761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592C3F-0678-4924-A319-29D5CE10C067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07C47B-6AD0-4703-BAA6-219F1EFF0E6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icker-02-marker">
            <a:extLst>
              <a:ext uri="{FF2B5EF4-FFF2-40B4-BE49-F238E27FC236}">
                <a16:creationId xmlns:a16="http://schemas.microsoft.com/office/drawing/2014/main" id="{B9794553-B267-42F2-BCDA-AEC4615339B7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icker-02-label">
            <a:extLst>
              <a:ext uri="{FF2B5EF4-FFF2-40B4-BE49-F238E27FC236}">
                <a16:creationId xmlns:a16="http://schemas.microsoft.com/office/drawing/2014/main" id="{2914A58F-BAC1-4CB8-A92E-CA888FB86B05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P R O G R A M   I N T R O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747015-E4B6-4506-A90A-1009E3E1A266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9334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需求不是“能玩”，而是低成本、自然交互、可持续反馈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5ACD9D-E907-42F0-BD96-2BB025616C3C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交互设计目标：低学习成本、即时反馈、自适应性</a:t>
            </a:r>
            <a:endParaRPr sz="1350" b="0">
              <a:solidFill>
                <a:srgbClr val="64706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D0EC675-832C-46CC-89D9-77D7D3683FE5}"/>
              </a:ext>
            </a:extLst>
          </p:cNvPr>
          <p:cNvSpPr>
            <a:spLocks noGrp="1"/>
          </p:cNvSpPr>
          <p:nvPr/>
        </p:nvSpPr>
        <p:spPr>
          <a:xfrm>
            <a:off x="723900" y="2505075"/>
            <a:ext cx="114300" cy="11430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6323DC-7892-42A4-8DD0-A52C880DE29D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自然交互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504B90C-9886-44E8-BF7D-E6598AA8ED57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摄像头/鼠标模式均可进入游戏；手势轨迹对应虚拟刀刃。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A6F498-FE26-439D-A0B7-7A82F3FAC664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8096250" cy="9525"/>
          </a:xfrm>
          <a:prstGeom prst="rect">
            <a:avLst/>
          </a:prstGeom>
          <a:solidFill>
            <a:srgbClr val="E2E5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3436C5-FC40-4959-9A22-9C994A17B2FC}"/>
              </a:ext>
            </a:extLst>
          </p:cNvPr>
          <p:cNvSpPr>
            <a:spLocks noGrp="1"/>
          </p:cNvSpPr>
          <p:nvPr/>
        </p:nvSpPr>
        <p:spPr>
          <a:xfrm>
            <a:off x="723900" y="3248025"/>
            <a:ext cx="114300" cy="11430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2599A3-290D-4D50-853F-D9174ACA21FC}"/>
              </a:ext>
            </a:extLst>
          </p:cNvPr>
          <p:cNvSpPr>
            <a:spLocks noGrp="1"/>
          </p:cNvSpPr>
          <p:nvPr/>
        </p:nvSpPr>
        <p:spPr>
          <a:xfrm>
            <a:off x="1047750" y="318135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完整玩法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9648526-5475-4921-A063-C1A6CE2CFFE4}"/>
              </a:ext>
            </a:extLst>
          </p:cNvPr>
          <p:cNvSpPr>
            <a:spLocks noGrp="1"/>
          </p:cNvSpPr>
          <p:nvPr/>
        </p:nvSpPr>
        <p:spPr>
          <a:xfrm>
            <a:off x="2524125" y="321945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经典、禅意、街机、道场；另有双人对战入口和道具系统。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1D01EA-3B6A-4D8E-84E0-7C44B58AF0C8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8096250" cy="9525"/>
          </a:xfrm>
          <a:prstGeom prst="rect">
            <a:avLst/>
          </a:prstGeom>
          <a:solidFill>
            <a:srgbClr val="E2E5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FD742D-F628-4A88-99B6-1508A76EABD6}"/>
              </a:ext>
            </a:extLst>
          </p:cNvPr>
          <p:cNvSpPr>
            <a:spLocks noGrp="1"/>
          </p:cNvSpPr>
          <p:nvPr/>
        </p:nvSpPr>
        <p:spPr>
          <a:xfrm>
            <a:off x="723900" y="3990975"/>
            <a:ext cx="114300" cy="11430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5029FC-D330-4196-8D5E-588B4E8E3D3D}"/>
              </a:ext>
            </a:extLst>
          </p:cNvPr>
          <p:cNvSpPr>
            <a:spLocks noGrp="1"/>
          </p:cNvSpPr>
          <p:nvPr/>
        </p:nvSpPr>
        <p:spPr>
          <a:xfrm>
            <a:off x="1047750" y="392430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实时反馈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CD72745-19DB-4CD9-ACDA-432887862F80}"/>
              </a:ext>
            </a:extLst>
          </p:cNvPr>
          <p:cNvSpPr>
            <a:spLocks noGrp="1"/>
          </p:cNvSpPr>
          <p:nvPr/>
        </p:nvSpPr>
        <p:spPr>
          <a:xfrm>
            <a:off x="2524125" y="396240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切割、连击、爆炸、时停、清屏都有视觉与音效反馈。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A5763E7-C893-49A0-938E-0167EAA034FB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8096250" cy="9525"/>
          </a:xfrm>
          <a:prstGeom prst="rect">
            <a:avLst/>
          </a:prstGeom>
          <a:solidFill>
            <a:srgbClr val="E2E5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6F3B913-FDC3-4CF6-8467-CAB03837F077}"/>
              </a:ext>
            </a:extLst>
          </p:cNvPr>
          <p:cNvSpPr>
            <a:spLocks noGrp="1"/>
          </p:cNvSpPr>
          <p:nvPr/>
        </p:nvSpPr>
        <p:spPr>
          <a:xfrm>
            <a:off x="723900" y="4733925"/>
            <a:ext cx="114300" cy="114300"/>
          </a:xfrm>
          <a:prstGeom prst="rect">
            <a:avLst/>
          </a:prstGeom>
          <a:solidFill>
            <a:srgbClr val="C94E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C0C885-4D45-4406-A008-D4B622802522}"/>
              </a:ext>
            </a:extLst>
          </p:cNvPr>
          <p:cNvSpPr>
            <a:spLocks noGrp="1"/>
          </p:cNvSpPr>
          <p:nvPr/>
        </p:nvSpPr>
        <p:spPr>
          <a:xfrm>
            <a:off x="1047750" y="466725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数据反馈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D04552-9426-4CEB-AF7F-3BF6AFADED39}"/>
              </a:ext>
            </a:extLst>
          </p:cNvPr>
          <p:cNvSpPr>
            <a:spLocks noGrp="1"/>
          </p:cNvSpPr>
          <p:nvPr/>
        </p:nvSpPr>
        <p:spPr>
          <a:xfrm>
            <a:off x="2524125" y="470535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结算页输出命中率、覆盖率、疲劳、交互分和下一局灵敏度。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DF5B60-0DB2-4461-81D3-468CAC505538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8096250" cy="9525"/>
          </a:xfrm>
          <a:prstGeom prst="rect">
            <a:avLst/>
          </a:prstGeom>
          <a:solidFill>
            <a:srgbClr val="E2E5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23BA40-FB0C-4104-8AAC-7913E9BA2E44}"/>
              </a:ext>
            </a:extLst>
          </p:cNvPr>
          <p:cNvSpPr>
            <a:spLocks noGrp="1"/>
          </p:cNvSpPr>
          <p:nvPr/>
        </p:nvSpPr>
        <p:spPr>
          <a:xfrm>
            <a:off x="9772650" y="2476500"/>
            <a:ext cx="9525" cy="55245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A53D72-83FB-424E-BCE8-17BCF2519ABF}"/>
              </a:ext>
            </a:extLst>
          </p:cNvPr>
          <p:cNvSpPr>
            <a:spLocks noGrp="1"/>
          </p:cNvSpPr>
          <p:nvPr/>
        </p:nvSpPr>
        <p:spPr>
          <a:xfrm>
            <a:off x="9925050" y="25717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rPr>
              <a:t>21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51BEDC7-0B1D-40E0-9635-F12DC2CF3E04}"/>
              </a:ext>
            </a:extLst>
          </p:cNvPr>
          <p:cNvSpPr>
            <a:spLocks noGrp="1"/>
          </p:cNvSpPr>
          <p:nvPr/>
        </p:nvSpPr>
        <p:spPr>
          <a:xfrm>
            <a:off x="9925050" y="297180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MediaPipe 手部关键点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65F98C3-858F-494E-A12D-8F724FCD47A6}"/>
              </a:ext>
            </a:extLst>
          </p:cNvPr>
          <p:cNvSpPr>
            <a:spLocks noGrp="1"/>
          </p:cNvSpPr>
          <p:nvPr/>
        </p:nvSpPr>
        <p:spPr>
          <a:xfrm>
            <a:off x="9772650" y="3429000"/>
            <a:ext cx="9525" cy="55245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AA5452E-A9F0-46A3-9133-0BBB1561F694}"/>
              </a:ext>
            </a:extLst>
          </p:cNvPr>
          <p:cNvSpPr>
            <a:spLocks noGrp="1"/>
          </p:cNvSpPr>
          <p:nvPr/>
        </p:nvSpPr>
        <p:spPr>
          <a:xfrm>
            <a:off x="9925050" y="35242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rPr>
              <a:t>900+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E676D57-214D-4D92-BF45-2A8A21999212}"/>
              </a:ext>
            </a:extLst>
          </p:cNvPr>
          <p:cNvSpPr>
            <a:spLocks noGrp="1"/>
          </p:cNvSpPr>
          <p:nvPr/>
        </p:nvSpPr>
        <p:spPr>
          <a:xfrm>
            <a:off x="9925050" y="392430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每局最多记录点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64DBE93-9AAA-47CC-A653-2214A86423F4}"/>
              </a:ext>
            </a:extLst>
          </p:cNvPr>
          <p:cNvSpPr>
            <a:spLocks noGrp="1"/>
          </p:cNvSpPr>
          <p:nvPr/>
        </p:nvSpPr>
        <p:spPr>
          <a:xfrm>
            <a:off x="9772650" y="4286250"/>
            <a:ext cx="9525" cy="55245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7BD927-D5AB-42F7-AAE6-31E9BF1D5E24}"/>
              </a:ext>
            </a:extLst>
          </p:cNvPr>
          <p:cNvSpPr>
            <a:spLocks noGrp="1"/>
          </p:cNvSpPr>
          <p:nvPr/>
        </p:nvSpPr>
        <p:spPr>
          <a:xfrm>
            <a:off x="9925050" y="438150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rPr>
              <a:t>local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2AE0BB3-3996-4B20-8BA3-931EE3DFA277}"/>
              </a:ext>
            </a:extLst>
          </p:cNvPr>
          <p:cNvSpPr>
            <a:spLocks noGrp="1"/>
          </p:cNvSpPr>
          <p:nvPr/>
        </p:nvSpPr>
        <p:spPr>
          <a:xfrm>
            <a:off x="9925050" y="47815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用户数据本地保存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29D24D-251D-4648-B828-16D462821563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F87F859-DED3-4E35-94B5-DEBFB71CE391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讲法：把功能归为需求响应，不逐条念菜单。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DC79EE-B70F-4F91-9428-2560E2FFD29B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632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20145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核心功能实现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2290762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系统通过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MediaPipe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获取手部坐标，并在每一帧通过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requestAnimationFrame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驱动物理引擎。水果的</a:t>
            </a:r>
            <a:endParaRPr lang="en-US" sz="1500" b="0" i="0" u="none" strike="noStrike" cap="none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生成逻辑采用概率模型，随着对局进行动态增加难度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771525" y="33956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9625" y="33956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碰撞检测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：基于线段与圆心的最短距离判定切割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771525" y="37004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09625" y="3700462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连击系统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：1.3s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窗口内的连续命中获得分数加倍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771525" y="40052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09625" y="40052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状态管理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：六大场景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(Menu, Shop, Dojo etc.)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独立管理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游戏玩法与交互流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588615-E7D1-A572-7A1D-8A76E6C29B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88" r="23532" b="3637"/>
          <a:stretch>
            <a:fillRect/>
          </a:stretch>
        </p:blipFill>
        <p:spPr>
          <a:xfrm>
            <a:off x="5475620" y="1171575"/>
            <a:ext cx="6588962" cy="4438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796182"/>
            <a:ext cx="3492549" cy="4233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3644" y="1743075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5007" y="1749701"/>
            <a:ext cx="3492549" cy="4327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94236" y="4548307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1" i="0" u="none" strike="noStrike" cap="none" dirty="0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食指识别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962025" y="4991100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确认选择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设置确认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4672458" y="238269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五指张开</a:t>
            </a:r>
            <a:r>
              <a:rPr lang="en-US" sz="2100" b="1" i="0" u="none" strike="noStrike" cap="none" dirty="0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 (Palm)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4740245" y="2820840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触发清屏道具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(Clear)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8450836" y="4622819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响指</a:t>
            </a:r>
            <a:r>
              <a:rPr lang="en-US" sz="2100" b="1" i="0" u="none" strike="noStrike" cap="none" dirty="0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 (Snap)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8518624" y="4980216"/>
            <a:ext cx="27114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时间停止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(Time Stop)</a:t>
            </a:r>
            <a:endParaRPr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1683" y="179618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7612" y="409645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自定义交互手势集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340A6B-5801-4964-BF82-260AC46DAC2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042" t="12337" r="15458" b="15100"/>
          <a:stretch>
            <a:fillRect/>
          </a:stretch>
        </p:blipFill>
        <p:spPr>
          <a:xfrm>
            <a:off x="705930" y="1538441"/>
            <a:ext cx="3398422" cy="27810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842153-BC1F-8BEA-1469-727057875D8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5089" r="23355" b="3368"/>
          <a:stretch>
            <a:fillRect/>
          </a:stretch>
        </p:blipFill>
        <p:spPr>
          <a:xfrm>
            <a:off x="3990443" y="3436482"/>
            <a:ext cx="4211101" cy="28393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BACEE5-49A1-55AF-512F-0FB2F5EB0F0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5089" r="23334" b="4584"/>
          <a:stretch>
            <a:fillRect/>
          </a:stretch>
        </p:blipFill>
        <p:spPr>
          <a:xfrm>
            <a:off x="7519532" y="870351"/>
            <a:ext cx="4555112" cy="3024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沉浸式道场与商店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1831912"/>
            <a:ext cx="49530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本地商店系统</a:t>
            </a:r>
            <a:r>
              <a:rPr lang="zh-CN" alt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玩家在游戏中切割水果获得金币，可购买不同特效的刀刃皮肤和一次性道具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3557730"/>
            <a:ext cx="4953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1" i="0" u="none" strike="noStrike" cap="none" dirty="0">
              <a:solidFill>
                <a:srgbClr val="7EF7C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Dojo (</a:t>
            </a: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道场</a:t>
            </a:r>
            <a:r>
              <a:rPr lang="en-US" sz="1500" b="1" i="0" u="none" strike="noStrike" cap="none" dirty="0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模块允许玩家更换动态背景（如雨、雪等天气特效）以及调整特效强度等级，从而满足不同性能设备的运行需求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6046C66B-1FA1-8DB1-C82B-36B1904673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75" t="9305" r="18575" b="13540"/>
          <a:stretch>
            <a:fillRect/>
          </a:stretch>
        </p:blipFill>
        <p:spPr>
          <a:xfrm>
            <a:off x="6221896" y="3589765"/>
            <a:ext cx="4869628" cy="31074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B51C891-5B55-1652-374E-570FE71A6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520" y="234824"/>
            <a:ext cx="4375746" cy="3194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66737E5A-7737-4A2F-9661-56F04B709D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6A743-C87B-47F6-9543-0B007D6327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D0F6CC-0F40-486C-A69B-A5497CA53C1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0FBEAD-1A3E-485D-8B19-6BABE24F6319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C3F4FB-6ED2-40C3-8700-F72631A8E22B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BFDD30-573E-45B9-B9E0-7C17BDDBECED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81721-F579-49CD-BCBD-7D2B4BC8CBD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38F4D7-7ED6-433A-B5E2-07919C47FEE7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23EDDB-1B44-4955-A741-57F863D5776D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F038A9-63DA-4550-8D92-292404A644AF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367AF-BA30-47C2-8D4A-8839A0504F95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A568AB-1A9B-4ABF-A8CD-0E4B7C682D5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371BFB-8BA6-4318-9603-510A87C6A254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A07315-7821-4B37-863D-B6D9B1C5A7A9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4705FF-0E7B-45FE-A785-2EA43A07238C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B305B6-93D9-41A4-80AC-69D198AE80AD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B8EFA9-0A07-4A49-920F-37A7BA38EB8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C40888-9F2F-4B50-A659-934B63A4FF5F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7F4C2F-1A53-4650-93A8-FC38D954FD9A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90C4358-E5A2-49D7-9FCA-5AA11D041EC4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88C89B-57A1-4B30-9EFF-D9E9CF045BA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icker-04-marker">
            <a:extLst>
              <a:ext uri="{FF2B5EF4-FFF2-40B4-BE49-F238E27FC236}">
                <a16:creationId xmlns:a16="http://schemas.microsoft.com/office/drawing/2014/main" id="{E8E4AD3D-ED25-44C0-95F2-C820C8B11264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C94E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icker-04-label">
            <a:extLst>
              <a:ext uri="{FF2B5EF4-FFF2-40B4-BE49-F238E27FC236}">
                <a16:creationId xmlns:a16="http://schemas.microsoft.com/office/drawing/2014/main" id="{88C2AFA4-75C7-4D0C-849E-800AAB83798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N O V E L T 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E61B0C-9B73-4A89-9CF7-25957216A48D}"/>
              </a:ext>
            </a:extLst>
          </p:cNvPr>
          <p:cNvSpPr>
            <a:spLocks noGrp="1"/>
          </p:cNvSpPr>
          <p:nvPr/>
        </p:nvSpPr>
        <p:spPr>
          <a:xfrm>
            <a:off x="571500" y="800100"/>
            <a:ext cx="914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创新点：把摄像头从输入设备升级成用户行为研究工具。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A09228E-3A21-43BE-9961-28FA5F437040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普通体感游戏只完成“识别手势 → 游戏响应”。本项目多做一步：把交互过程变成数据，再反向驱动下一局体验。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49820B-D200-473D-A085-E92E24902DF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6672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95872-59D1-42B1-9550-D2DAE14AF3F2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传统体感项目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C897FA-4F58-49C8-AA53-E4924A5636AE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742950" cy="552450"/>
          </a:xfrm>
          <a:prstGeom prst="rect">
            <a:avLst/>
          </a:prstGeom>
          <a:solidFill>
            <a:srgbClr val="E8ECE6"/>
          </a:solidFill>
          <a:ln w="9525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CE66BB-AA21-439C-AF0E-31AF858A1FCC}"/>
              </a:ext>
            </a:extLst>
          </p:cNvPr>
          <p:cNvSpPr>
            <a:spLocks noGrp="1"/>
          </p:cNvSpPr>
          <p:nvPr/>
        </p:nvSpPr>
        <p:spPr>
          <a:xfrm>
            <a:off x="1143000" y="37528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摄像头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8EF50A-4778-4223-97DF-6CCA55850969}"/>
              </a:ext>
            </a:extLst>
          </p:cNvPr>
          <p:cNvSpPr>
            <a:spLocks noGrp="1"/>
          </p:cNvSpPr>
          <p:nvPr/>
        </p:nvSpPr>
        <p:spPr>
          <a:xfrm>
            <a:off x="1885950" y="3743325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07A72C-BD88-4BE5-9B3B-1B9BE412E24F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742950" cy="552450"/>
          </a:xfrm>
          <a:prstGeom prst="rect">
            <a:avLst/>
          </a:prstGeom>
          <a:solidFill>
            <a:srgbClr val="E8ECE6"/>
          </a:solidFill>
          <a:ln w="9525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D79E12-D3D7-4AE4-94D0-4003E96AB7D2}"/>
              </a:ext>
            </a:extLst>
          </p:cNvPr>
          <p:cNvSpPr>
            <a:spLocks noGrp="1"/>
          </p:cNvSpPr>
          <p:nvPr/>
        </p:nvSpPr>
        <p:spPr>
          <a:xfrm>
            <a:off x="2171700" y="37528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手势识别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805A7F5-B858-4BAF-A026-7D47A6309411}"/>
              </a:ext>
            </a:extLst>
          </p:cNvPr>
          <p:cNvSpPr>
            <a:spLocks noGrp="1"/>
          </p:cNvSpPr>
          <p:nvPr/>
        </p:nvSpPr>
        <p:spPr>
          <a:xfrm>
            <a:off x="2914650" y="3743325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6B41C3F-C146-4128-BEE5-0FD0A48F329D}"/>
              </a:ext>
            </a:extLst>
          </p:cNvPr>
          <p:cNvSpPr>
            <a:spLocks noGrp="1"/>
          </p:cNvSpPr>
          <p:nvPr/>
        </p:nvSpPr>
        <p:spPr>
          <a:xfrm>
            <a:off x="3124200" y="3581400"/>
            <a:ext cx="742950" cy="552450"/>
          </a:xfrm>
          <a:prstGeom prst="rect">
            <a:avLst/>
          </a:prstGeom>
          <a:solidFill>
            <a:srgbClr val="E8ECE6"/>
          </a:solidFill>
          <a:ln w="9525">
            <a:solidFill>
              <a:srgbClr val="D9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788E4E-92FB-416D-B3B5-B071A2F7E6E3}"/>
              </a:ext>
            </a:extLst>
          </p:cNvPr>
          <p:cNvSpPr>
            <a:spLocks noGrp="1"/>
          </p:cNvSpPr>
          <p:nvPr/>
        </p:nvSpPr>
        <p:spPr>
          <a:xfrm>
            <a:off x="3200400" y="37528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游戏响应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52107B-BEFA-40C1-8F39-735A2588DE3C}"/>
              </a:ext>
            </a:extLst>
          </p:cNvPr>
          <p:cNvSpPr>
            <a:spLocks noGrp="1"/>
          </p:cNvSpPr>
          <p:nvPr/>
        </p:nvSpPr>
        <p:spPr>
          <a:xfrm>
            <a:off x="3943350" y="3743325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7B0A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D11E25-6E14-40AD-ADFE-FA17764AE400}"/>
              </a:ext>
            </a:extLst>
          </p:cNvPr>
          <p:cNvSpPr>
            <a:spLocks noGrp="1"/>
          </p:cNvSpPr>
          <p:nvPr/>
        </p:nvSpPr>
        <p:spPr>
          <a:xfrm>
            <a:off x="4152900" y="3581400"/>
            <a:ext cx="742950" cy="552450"/>
          </a:xfrm>
          <a:prstGeom prst="rect">
            <a:avLst/>
          </a:prstGeom>
          <a:solidFill>
            <a:srgbClr val="F2D8D4"/>
          </a:solidFill>
          <a:ln w="9525">
            <a:solidFill>
              <a:srgbClr val="C94E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A0F8A1-DBD4-44CC-A96B-9CE56D8E70EA}"/>
              </a:ext>
            </a:extLst>
          </p:cNvPr>
          <p:cNvSpPr>
            <a:spLocks noGrp="1"/>
          </p:cNvSpPr>
          <p:nvPr/>
        </p:nvSpPr>
        <p:spPr>
          <a:xfrm>
            <a:off x="4229100" y="37528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C94E4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C94E41"/>
                </a:solidFill>
                <a:latin typeface="Noto Sans SC"/>
                <a:ea typeface="Noto Sans SC"/>
                <a:cs typeface="Noto Sans SC"/>
              </a:rPr>
              <a:t>固定难度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E8869E-56F1-496E-BB39-FC275EFE9D17}"/>
              </a:ext>
            </a:extLst>
          </p:cNvPr>
          <p:cNvSpPr>
            <a:spLocks noGrp="1"/>
          </p:cNvSpPr>
          <p:nvPr/>
        </p:nvSpPr>
        <p:spPr>
          <a:xfrm>
            <a:off x="6191250" y="2362200"/>
            <a:ext cx="4857750" cy="2819400"/>
          </a:xfrm>
          <a:prstGeom prst="rect">
            <a:avLst/>
          </a:prstGeom>
          <a:solidFill>
            <a:srgbClr val="101A1D"/>
          </a:solidFill>
          <a:ln w="9525">
            <a:solidFill>
              <a:srgbClr val="101A1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64FE4F-6D14-441F-95A7-18619570F046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4E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6F4EE"/>
                </a:solidFill>
                <a:latin typeface="Noto Sans SC"/>
                <a:ea typeface="Noto Sans SC"/>
                <a:cs typeface="Noto Sans SC"/>
              </a:rPr>
              <a:t>我们的</a:t>
            </a:r>
            <a:r>
              <a:rPr lang="zh-CN" altLang="en-US" sz="1875" b="1">
                <a:solidFill>
                  <a:srgbClr val="F6F4EE"/>
                </a:solidFill>
                <a:latin typeface="Noto Sans SC"/>
                <a:ea typeface="Noto Sans SC"/>
                <a:cs typeface="Noto Sans SC"/>
              </a:rPr>
              <a:t>项目</a:t>
            </a:r>
            <a:endParaRPr sz="1875" b="1">
              <a:solidFill>
                <a:srgbClr val="F6F4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849B3E2-010D-433B-B395-F7509EE12FFA}"/>
              </a:ext>
            </a:extLst>
          </p:cNvPr>
          <p:cNvSpPr>
            <a:spLocks noGrp="1"/>
          </p:cNvSpPr>
          <p:nvPr/>
        </p:nvSpPr>
        <p:spPr>
          <a:xfrm>
            <a:off x="6496050" y="3295650"/>
            <a:ext cx="1066800" cy="514350"/>
          </a:xfrm>
          <a:prstGeom prst="rect">
            <a:avLst/>
          </a:prstGeom>
          <a:solidFill>
            <a:srgbClr val="169A82"/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4CBC99F-4BF5-4860-A51A-1A99777DD759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F2E1254-6D60-47EA-8DCE-19B9B6A6EAA2}"/>
              </a:ext>
            </a:extLst>
          </p:cNvPr>
          <p:cNvSpPr>
            <a:spLocks noGrp="1"/>
          </p:cNvSpPr>
          <p:nvPr/>
        </p:nvSpPr>
        <p:spPr>
          <a:xfrm>
            <a:off x="6591300" y="35623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手势轨迹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FA2722-480A-41E9-B608-903D8A3E2FC9}"/>
              </a:ext>
            </a:extLst>
          </p:cNvPr>
          <p:cNvSpPr>
            <a:spLocks noGrp="1"/>
          </p:cNvSpPr>
          <p:nvPr/>
        </p:nvSpPr>
        <p:spPr>
          <a:xfrm>
            <a:off x="7620000" y="34480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6887F1-BFE9-487D-AD29-B882C9B15D7A}"/>
              </a:ext>
            </a:extLst>
          </p:cNvPr>
          <p:cNvSpPr>
            <a:spLocks noGrp="1"/>
          </p:cNvSpPr>
          <p:nvPr/>
        </p:nvSpPr>
        <p:spPr>
          <a:xfrm>
            <a:off x="7848600" y="3295650"/>
            <a:ext cx="1066800" cy="514350"/>
          </a:xfrm>
          <a:prstGeom prst="rect">
            <a:avLst/>
          </a:prstGeom>
          <a:solidFill>
            <a:srgbClr val="3C7DC7"/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26D1714-B5E1-4078-932B-88890FC8004A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采集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6E77C60-BB04-43A3-843D-6ABACAFAC54D}"/>
              </a:ext>
            </a:extLst>
          </p:cNvPr>
          <p:cNvSpPr>
            <a:spLocks noGrp="1"/>
          </p:cNvSpPr>
          <p:nvPr/>
        </p:nvSpPr>
        <p:spPr>
          <a:xfrm>
            <a:off x="7943850" y="35623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45ms 样本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A791008-BD78-47B0-B453-65385BDF9FEA}"/>
              </a:ext>
            </a:extLst>
          </p:cNvPr>
          <p:cNvSpPr>
            <a:spLocks noGrp="1"/>
          </p:cNvSpPr>
          <p:nvPr/>
        </p:nvSpPr>
        <p:spPr>
          <a:xfrm>
            <a:off x="8972550" y="34480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E277D44-2C3B-4810-A7FE-93C337CA34B4}"/>
              </a:ext>
            </a:extLst>
          </p:cNvPr>
          <p:cNvSpPr>
            <a:spLocks noGrp="1"/>
          </p:cNvSpPr>
          <p:nvPr/>
        </p:nvSpPr>
        <p:spPr>
          <a:xfrm>
            <a:off x="9201150" y="3295650"/>
            <a:ext cx="1066800" cy="514350"/>
          </a:xfrm>
          <a:prstGeom prst="rect">
            <a:avLst/>
          </a:prstGeom>
          <a:solidFill>
            <a:srgbClr val="D9972B"/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87ABD01-AF15-4B1E-A9A7-A558BDF443D8}"/>
              </a:ext>
            </a:extLst>
          </p:cNvPr>
          <p:cNvSpPr>
            <a:spLocks noGrp="1"/>
          </p:cNvSpPr>
          <p:nvPr/>
        </p:nvSpPr>
        <p:spPr>
          <a:xfrm>
            <a:off x="9315450" y="3371850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分析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A836D8E-6B75-4382-9C3E-18189C5619FC}"/>
              </a:ext>
            </a:extLst>
          </p:cNvPr>
          <p:cNvSpPr>
            <a:spLocks noGrp="1"/>
          </p:cNvSpPr>
          <p:nvPr/>
        </p:nvSpPr>
        <p:spPr>
          <a:xfrm>
            <a:off x="9296400" y="35623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命中/覆盖/疲劳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4995F7A-331C-4201-8245-595D1D8372D5}"/>
              </a:ext>
            </a:extLst>
          </p:cNvPr>
          <p:cNvSpPr>
            <a:spLocks noGrp="1"/>
          </p:cNvSpPr>
          <p:nvPr/>
        </p:nvSpPr>
        <p:spPr>
          <a:xfrm>
            <a:off x="10325100" y="34480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4E5B246-E05A-4CC1-804F-CF9ECA0D1701}"/>
              </a:ext>
            </a:extLst>
          </p:cNvPr>
          <p:cNvSpPr>
            <a:spLocks noGrp="1"/>
          </p:cNvSpPr>
          <p:nvPr/>
        </p:nvSpPr>
        <p:spPr>
          <a:xfrm>
            <a:off x="6496050" y="4171950"/>
            <a:ext cx="1066800" cy="514350"/>
          </a:xfrm>
          <a:prstGeom prst="rect">
            <a:avLst/>
          </a:prstGeom>
          <a:solidFill>
            <a:srgbClr val="7562B8"/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1B3632C-CF08-4CA3-801D-892BF599F3A9}"/>
              </a:ext>
            </a:extLst>
          </p:cNvPr>
          <p:cNvSpPr>
            <a:spLocks noGrp="1"/>
          </p:cNvSpPr>
          <p:nvPr/>
        </p:nvSpPr>
        <p:spPr>
          <a:xfrm>
            <a:off x="6610350" y="4248150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建模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91EAEB8-6527-4740-BE4B-A3999E21C361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个人灵敏度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343BE3-A5BE-4F2C-A8FE-D3AAFEE53F12}"/>
              </a:ext>
            </a:extLst>
          </p:cNvPr>
          <p:cNvSpPr>
            <a:spLocks noGrp="1"/>
          </p:cNvSpPr>
          <p:nvPr/>
        </p:nvSpPr>
        <p:spPr>
          <a:xfrm>
            <a:off x="7620000" y="43243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DE6E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B332628-3663-4DB7-A461-8FD9FBEDC774}"/>
              </a:ext>
            </a:extLst>
          </p:cNvPr>
          <p:cNvSpPr>
            <a:spLocks noGrp="1"/>
          </p:cNvSpPr>
          <p:nvPr/>
        </p:nvSpPr>
        <p:spPr>
          <a:xfrm>
            <a:off x="7848600" y="4171950"/>
            <a:ext cx="1066800" cy="514350"/>
          </a:xfrm>
          <a:prstGeom prst="rect">
            <a:avLst/>
          </a:prstGeom>
          <a:solidFill>
            <a:srgbClr val="C94E41"/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D8E085B-7F02-46E8-A045-014F27EEECE7}"/>
              </a:ext>
            </a:extLst>
          </p:cNvPr>
          <p:cNvSpPr>
            <a:spLocks noGrp="1"/>
          </p:cNvSpPr>
          <p:nvPr/>
        </p:nvSpPr>
        <p:spPr>
          <a:xfrm>
            <a:off x="7962900" y="4248150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反馈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9AAE1A4-845E-4E93-8442-51B681A6B24A}"/>
              </a:ext>
            </a:extLst>
          </p:cNvPr>
          <p:cNvSpPr>
            <a:spLocks noGrp="1"/>
          </p:cNvSpPr>
          <p:nvPr/>
        </p:nvSpPr>
        <p:spPr>
          <a:xfrm>
            <a:off x="7943850" y="44386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下一局应用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F12CC12-E1A7-447E-8570-39E6B66B6499}"/>
              </a:ext>
            </a:extLst>
          </p:cNvPr>
          <p:cNvSpPr>
            <a:spLocks noGrp="1"/>
          </p:cNvSpPr>
          <p:nvPr/>
        </p:nvSpPr>
        <p:spPr>
          <a:xfrm>
            <a:off x="6191250" y="5562600"/>
            <a:ext cx="485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4E4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C94E41"/>
                </a:solidFill>
                <a:latin typeface="Noto Sans SC"/>
                <a:ea typeface="Noto Sans SC"/>
                <a:cs typeface="Noto Sans SC"/>
              </a:rPr>
              <a:t>核心不在“识别手势”，而在“根据行为数据自动适配玩家”。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74C7130-5842-455D-B6B0-9DC94469A86D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D391685-1E21-4159-9B8D-B37C2CA8F7BC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讲法：这是答辩最重要的一页，要明确区别于简单复现。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5467DD-75DC-457C-B36A-84DAACC299C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388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259" y="4675319"/>
            <a:ext cx="76200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1047750" y="1743075"/>
            <a:ext cx="2952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x1.38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1047750" y="3353829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最大灵敏度增益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1045259" y="4399094"/>
            <a:ext cx="800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动态用户建模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1045259" y="5427794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系统记录命中率、区域覆盖度及疲劳趋势。当检测到玩家挥动范围变窄（覆盖率低）且命中率下降时，自动提高灵敏度，帮助玩家以更小的肢体动作完成操作，有效缓解</a:t>
            </a:r>
            <a:r>
              <a:rPr lang="en-US" sz="1500" b="1" i="0" u="none" strike="noStrike" cap="none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物理疲劳</a:t>
            </a: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5759" y="4874521"/>
            <a:ext cx="249465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创新点 1：自适应灵敏度算法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FDCE9B-F529-F13D-BB40-3B07373810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702" r="22977" b="3097"/>
          <a:stretch>
            <a:fillRect/>
          </a:stretch>
        </p:blipFill>
        <p:spPr>
          <a:xfrm>
            <a:off x="4855259" y="1160619"/>
            <a:ext cx="6309056" cy="4267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72075"/>
            <a:ext cx="5286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5172075"/>
            <a:ext cx="5286375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649366" y="5372100"/>
            <a:ext cx="51306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轨迹热力图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71525" y="5915025"/>
            <a:ext cx="4886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3x3 网格统计，揭示玩家的交互盲区。自动推荐最佳交互区域。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411991" y="5372100"/>
            <a:ext cx="51306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BA4FF"/>
                </a:solidFill>
                <a:latin typeface="Poppins"/>
                <a:ea typeface="Poppins"/>
                <a:cs typeface="Poppins"/>
                <a:sym typeface="Poppins"/>
              </a:rPr>
              <a:t>疲劳趋势预判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534150" y="5915025"/>
            <a:ext cx="4886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分析挥动速度的 EMA (指数移动平均)，判定操作稳定性变化。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创新点 2：全维度数据分析报告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9779A6-A7DC-E190-045B-840D781727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84" t="13666" r="20429" b="17169"/>
          <a:stretch>
            <a:fillRect/>
          </a:stretch>
        </p:blipFill>
        <p:spPr>
          <a:xfrm>
            <a:off x="2773038" y="1095375"/>
            <a:ext cx="6013937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460020" y="3727147"/>
            <a:ext cx="55506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7EF7C5"/>
                </a:solidFill>
                <a:latin typeface="Poppins"/>
                <a:ea typeface="Poppins"/>
                <a:cs typeface="Poppins"/>
                <a:sym typeface="Poppins"/>
              </a:rPr>
              <a:t>表情融合反馈</a:t>
            </a:r>
            <a:endParaRPr sz="1800" dirty="0">
              <a:solidFill>
                <a:srgbClr val="7EF7C5"/>
              </a:solidFill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460020" y="4112098"/>
            <a:ext cx="54420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项目集成了可选的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Face Mesh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模型。在对局中捕获玩家表情，并记录在单局结算报告中。这为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HCI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研究提供了更深层的维度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endParaRPr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6460019" y="4872891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专注度分析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：平静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紧张状态的切换记录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222" name="Google Shape;222;p21"/>
          <p:cNvSpPr txBox="1"/>
          <p:nvPr/>
        </p:nvSpPr>
        <p:spPr>
          <a:xfrm>
            <a:off x="6460018" y="5206815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7EF7C5"/>
                </a:solidFill>
                <a:latin typeface="Urbanist"/>
                <a:ea typeface="Urbanist"/>
                <a:cs typeface="Urbanist"/>
                <a:sym typeface="Urbanist"/>
              </a:rPr>
              <a:t>心流体验量化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：开心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惊讶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zh-CN" alt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专注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zh-CN" alt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平稳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表情</a:t>
            </a:r>
            <a:r>
              <a:rPr lang="zh-CN" alt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的记录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分析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创新点 3：情感感知界面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EFDD82-9E6B-E84B-7BEB-7ABEDC323F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1" r="1647"/>
          <a:stretch>
            <a:fillRect/>
          </a:stretch>
        </p:blipFill>
        <p:spPr>
          <a:xfrm>
            <a:off x="234340" y="2052763"/>
            <a:ext cx="6061685" cy="35184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D93567-55B8-6C86-C7B1-4738EA4C9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365" y="2052763"/>
            <a:ext cx="1841595" cy="11684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DE0BFA-3BB8-4BE4-91BD-9CE3262EA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5771" y="1806010"/>
            <a:ext cx="2298818" cy="1549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B72BAAC6-D57A-4E64-B2E0-6526A08E5D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30F484-EE90-4C9C-A0F7-616FD98C9C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431541-CB66-461E-97C6-B041DEE432A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ADD4C2-EBA1-4F79-8B9A-1B7265E3C1C5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C4853-EB81-48AC-8930-5B1584BB1F49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628D0A-5669-4458-B167-FFCC6950B84C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04F27C-860D-4D7A-9146-CF03398B5E5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F6AB5-22C7-471A-87FB-68B3332995E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30F7B1-828E-4725-ABE4-57C1D64F6A40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E732F5-DEFD-4655-8C5D-85ACDE6B46CF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B89701-6F8C-4A3C-B0B8-16DDBB32C3E9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076508-990A-4390-8F94-45FEA25BCD0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3E10FF-312F-4D94-A366-EE17025F64D9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541480-4CDA-49AC-98BA-C0A06DD87074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B36C7-E21D-44CF-87AA-D18A21036A26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4C205E-113F-4094-93CB-8E9B6A85A3A7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327C78-01F6-45AA-B659-05E3C0E295A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50230C-C60B-4CBB-9D35-3DBBA33A5FA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859BA2-5849-4490-8B6C-114F6C5255C1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7DCDAD-C824-452C-887A-31363FC7429A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9DFCF9-A2B9-4E7C-9919-769FA1C5AB5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E9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icker-05-marker">
            <a:extLst>
              <a:ext uri="{FF2B5EF4-FFF2-40B4-BE49-F238E27FC236}">
                <a16:creationId xmlns:a16="http://schemas.microsoft.com/office/drawing/2014/main" id="{3D318C0D-9296-413F-B6E6-173AD88B7719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95250" cy="9525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icker-05-label">
            <a:extLst>
              <a:ext uri="{FF2B5EF4-FFF2-40B4-BE49-F238E27FC236}">
                <a16:creationId xmlns:a16="http://schemas.microsoft.com/office/drawing/2014/main" id="{972FDCFE-C7D7-4AFA-9C00-66BC4BD8C013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A D A P T I V E   A L G O R I T H 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DE6E9F-9A4B-4C7F-98A7-D35D86826F35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8858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72226"/>
                </a:solidFill>
                <a:latin typeface="Noto Serif SC"/>
                <a:ea typeface="Noto Serif SC"/>
                <a:cs typeface="Noto Serif SC"/>
              </a:rPr>
              <a:t>自适应不是黑箱：三类指标共同决定下一局灵敏度。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068098-DA3B-402D-B458-4C2B796182D5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代码中固定每局灵敏度，游戏结束后才更新下一局参数，避免玩家在一局内感到突变。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770947-256D-4D18-8085-15FD257D5062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3619500" cy="2800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0C2896-A001-4A0B-BE7E-35A7A4D51E00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3×3 轨迹覆盖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13133F5-E6EE-4EA6-8D0A-6BB04EB4B88A}"/>
              </a:ext>
            </a:extLst>
          </p:cNvPr>
          <p:cNvSpPr>
            <a:spLocks noGrp="1"/>
          </p:cNvSpPr>
          <p:nvPr/>
        </p:nvSpPr>
        <p:spPr>
          <a:xfrm>
            <a:off x="1162050" y="308610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3FC073-DFF8-4D48-B84D-D7E99B0873EE}"/>
              </a:ext>
            </a:extLst>
          </p:cNvPr>
          <p:cNvSpPr>
            <a:spLocks noGrp="1"/>
          </p:cNvSpPr>
          <p:nvPr/>
        </p:nvSpPr>
        <p:spPr>
          <a:xfrm>
            <a:off x="1981200" y="308610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D0FCA0-AA46-4C8F-B80A-E557B5A5F0CE}"/>
              </a:ext>
            </a:extLst>
          </p:cNvPr>
          <p:cNvSpPr>
            <a:spLocks noGrp="1"/>
          </p:cNvSpPr>
          <p:nvPr/>
        </p:nvSpPr>
        <p:spPr>
          <a:xfrm>
            <a:off x="2800350" y="3086100"/>
            <a:ext cx="742950" cy="438150"/>
          </a:xfrm>
          <a:prstGeom prst="rect">
            <a:avLst/>
          </a:prstGeom>
          <a:solidFill>
            <a:srgbClr val="EDF1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176157-2542-4720-87EB-8B41C3ECAC4D}"/>
              </a:ext>
            </a:extLst>
          </p:cNvPr>
          <p:cNvSpPr>
            <a:spLocks noGrp="1"/>
          </p:cNvSpPr>
          <p:nvPr/>
        </p:nvSpPr>
        <p:spPr>
          <a:xfrm>
            <a:off x="1162050" y="360045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C568E45-F5E4-41AC-B44D-5285FE9D5E72}"/>
              </a:ext>
            </a:extLst>
          </p:cNvPr>
          <p:cNvSpPr>
            <a:spLocks noGrp="1"/>
          </p:cNvSpPr>
          <p:nvPr/>
        </p:nvSpPr>
        <p:spPr>
          <a:xfrm>
            <a:off x="1981200" y="360045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60EBCD-6A3D-4873-8A18-9E9D12868E3E}"/>
              </a:ext>
            </a:extLst>
          </p:cNvPr>
          <p:cNvSpPr>
            <a:spLocks noGrp="1"/>
          </p:cNvSpPr>
          <p:nvPr/>
        </p:nvSpPr>
        <p:spPr>
          <a:xfrm>
            <a:off x="2800350" y="360045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589C56-8C46-467C-B2B4-B9E9A2CC998D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742950" cy="438150"/>
          </a:xfrm>
          <a:prstGeom prst="rect">
            <a:avLst/>
          </a:prstGeom>
          <a:solidFill>
            <a:srgbClr val="EDF1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D3D8818-5B1B-4D90-B9F8-1133F1B83CCA}"/>
              </a:ext>
            </a:extLst>
          </p:cNvPr>
          <p:cNvSpPr>
            <a:spLocks noGrp="1"/>
          </p:cNvSpPr>
          <p:nvPr/>
        </p:nvSpPr>
        <p:spPr>
          <a:xfrm>
            <a:off x="1981200" y="4114800"/>
            <a:ext cx="742950" cy="438150"/>
          </a:xfrm>
          <a:prstGeom prst="rect">
            <a:avLst/>
          </a:prstGeom>
          <a:solidFill>
            <a:srgbClr val="BFE2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C4040D1-B154-4B5E-8A66-52B058B5D56A}"/>
              </a:ext>
            </a:extLst>
          </p:cNvPr>
          <p:cNvSpPr>
            <a:spLocks noGrp="1"/>
          </p:cNvSpPr>
          <p:nvPr/>
        </p:nvSpPr>
        <p:spPr>
          <a:xfrm>
            <a:off x="2800350" y="4114800"/>
            <a:ext cx="742950" cy="438150"/>
          </a:xfrm>
          <a:prstGeom prst="rect">
            <a:avLst/>
          </a:prstGeom>
          <a:solidFill>
            <a:srgbClr val="EDF1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F4B4A5D-AB31-46E5-A1FA-CB75AA3BA33A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覆盖越广，说明玩家更主动利用屏幕空间。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9B97A8-62F3-49A8-8EC8-E1D102442C05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3143250" cy="2800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DD7C1D-8982-497B-8EC0-270BD629B80B}"/>
              </a:ext>
            </a:extLst>
          </p:cNvPr>
          <p:cNvSpPr>
            <a:spLocks noGrp="1"/>
          </p:cNvSpPr>
          <p:nvPr/>
        </p:nvSpPr>
        <p:spPr>
          <a:xfrm>
            <a:off x="5105400" y="25717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三因子评分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DDB3A72-2D5A-4E8A-B8A3-0B8864145659}"/>
              </a:ext>
            </a:extLst>
          </p:cNvPr>
          <p:cNvSpPr>
            <a:spLocks noGrp="1"/>
          </p:cNvSpPr>
          <p:nvPr/>
        </p:nvSpPr>
        <p:spPr>
          <a:xfrm>
            <a:off x="5105400" y="31242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命中率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4A90855-9214-4E1B-BE7E-32AE5492BF00}"/>
              </a:ext>
            </a:extLst>
          </p:cNvPr>
          <p:cNvSpPr>
            <a:spLocks noGrp="1"/>
          </p:cNvSpPr>
          <p:nvPr/>
        </p:nvSpPr>
        <p:spPr>
          <a:xfrm>
            <a:off x="6677025" y="3181350"/>
            <a:ext cx="1104900" cy="114300"/>
          </a:xfrm>
          <a:prstGeom prst="rect">
            <a:avLst/>
          </a:prstGeom>
          <a:solidFill>
            <a:srgbClr val="E7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D83E0D-8F9E-4057-AEB1-333C74F5B2FC}"/>
              </a:ext>
            </a:extLst>
          </p:cNvPr>
          <p:cNvSpPr>
            <a:spLocks noGrp="1"/>
          </p:cNvSpPr>
          <p:nvPr/>
        </p:nvSpPr>
        <p:spPr>
          <a:xfrm>
            <a:off x="6677025" y="3181350"/>
            <a:ext cx="751332" cy="11430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A8A0600-F783-4573-BD1D-9AD6CBA12B6A}"/>
              </a:ext>
            </a:extLst>
          </p:cNvPr>
          <p:cNvSpPr>
            <a:spLocks noGrp="1"/>
          </p:cNvSpPr>
          <p:nvPr/>
        </p:nvSpPr>
        <p:spPr>
          <a:xfrm>
            <a:off x="7324725" y="3114675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69A82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69A82"/>
                </a:solidFill>
                <a:latin typeface="Noto Sans SC"/>
                <a:ea typeface="Noto Sans SC"/>
                <a:cs typeface="Noto Sans SC"/>
              </a:rPr>
              <a:t>68%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0140A9F-4A56-4695-90F8-200BDCDA798E}"/>
              </a:ext>
            </a:extLst>
          </p:cNvPr>
          <p:cNvSpPr>
            <a:spLocks noGrp="1"/>
          </p:cNvSpPr>
          <p:nvPr/>
        </p:nvSpPr>
        <p:spPr>
          <a:xfrm>
            <a:off x="5105400" y="3657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覆盖率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4CB147-E2DA-4782-BBFC-EAB94B0E3639}"/>
              </a:ext>
            </a:extLst>
          </p:cNvPr>
          <p:cNvSpPr>
            <a:spLocks noGrp="1"/>
          </p:cNvSpPr>
          <p:nvPr/>
        </p:nvSpPr>
        <p:spPr>
          <a:xfrm>
            <a:off x="6677025" y="3714750"/>
            <a:ext cx="1104900" cy="114300"/>
          </a:xfrm>
          <a:prstGeom prst="rect">
            <a:avLst/>
          </a:prstGeom>
          <a:solidFill>
            <a:srgbClr val="E7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F00605F-46E0-499B-9710-A345267C1D3B}"/>
              </a:ext>
            </a:extLst>
          </p:cNvPr>
          <p:cNvSpPr>
            <a:spLocks noGrp="1"/>
          </p:cNvSpPr>
          <p:nvPr/>
        </p:nvSpPr>
        <p:spPr>
          <a:xfrm>
            <a:off x="6677025" y="3714750"/>
            <a:ext cx="795528" cy="11430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94FA8CE-0738-4627-A41E-81B648231BC7}"/>
              </a:ext>
            </a:extLst>
          </p:cNvPr>
          <p:cNvSpPr>
            <a:spLocks noGrp="1"/>
          </p:cNvSpPr>
          <p:nvPr/>
        </p:nvSpPr>
        <p:spPr>
          <a:xfrm>
            <a:off x="7324725" y="3648075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3C7DC7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C7DC7"/>
                </a:solidFill>
                <a:latin typeface="Noto Sans SC"/>
                <a:ea typeface="Noto Sans SC"/>
                <a:cs typeface="Noto Sans SC"/>
              </a:rPr>
              <a:t>72%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BA42F9-50ED-46CC-8595-136E6DDCE6B1}"/>
              </a:ext>
            </a:extLst>
          </p:cNvPr>
          <p:cNvSpPr>
            <a:spLocks noGrp="1"/>
          </p:cNvSpPr>
          <p:nvPr/>
        </p:nvSpPr>
        <p:spPr>
          <a:xfrm>
            <a:off x="51054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72226"/>
                </a:solidFill>
                <a:latin typeface="Noto Sans SC"/>
                <a:ea typeface="Noto Sans SC"/>
                <a:cs typeface="Noto Sans SC"/>
              </a:rPr>
              <a:t>疲劳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841B2A5-6F3C-4570-9F78-AF0775C344E4}"/>
              </a:ext>
            </a:extLst>
          </p:cNvPr>
          <p:cNvSpPr>
            <a:spLocks noGrp="1"/>
          </p:cNvSpPr>
          <p:nvPr/>
        </p:nvSpPr>
        <p:spPr>
          <a:xfrm>
            <a:off x="6677025" y="4248150"/>
            <a:ext cx="1104900" cy="114300"/>
          </a:xfrm>
          <a:prstGeom prst="rect">
            <a:avLst/>
          </a:prstGeom>
          <a:solidFill>
            <a:srgbClr val="E7EC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EC4A1B9-8895-4580-95F1-0A95B216C303}"/>
              </a:ext>
            </a:extLst>
          </p:cNvPr>
          <p:cNvSpPr>
            <a:spLocks noGrp="1"/>
          </p:cNvSpPr>
          <p:nvPr/>
        </p:nvSpPr>
        <p:spPr>
          <a:xfrm>
            <a:off x="6677025" y="4248150"/>
            <a:ext cx="132588" cy="11430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4FF826A-920B-4EF0-9BD3-232F7787A1A8}"/>
              </a:ext>
            </a:extLst>
          </p:cNvPr>
          <p:cNvSpPr>
            <a:spLocks noGrp="1"/>
          </p:cNvSpPr>
          <p:nvPr/>
        </p:nvSpPr>
        <p:spPr>
          <a:xfrm>
            <a:off x="7324725" y="4181475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9972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9972B"/>
                </a:solidFill>
                <a:latin typeface="Noto Sans SC"/>
                <a:ea typeface="Noto Sans SC"/>
                <a:cs typeface="Noto Sans SC"/>
              </a:rPr>
              <a:t>12%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92BBCF-F0C3-46E6-AE2F-25CC24476E20}"/>
              </a:ext>
            </a:extLst>
          </p:cNvPr>
          <p:cNvSpPr>
            <a:spLocks noGrp="1"/>
          </p:cNvSpPr>
          <p:nvPr/>
        </p:nvSpPr>
        <p:spPr>
          <a:xfrm>
            <a:off x="5105400" y="4762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目标：让命中率和参与度接近“挑战合适”的区间。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0526A6F-8D5D-463C-8C64-3002F3E393DC}"/>
              </a:ext>
            </a:extLst>
          </p:cNvPr>
          <p:cNvSpPr>
            <a:spLocks noGrp="1"/>
          </p:cNvSpPr>
          <p:nvPr/>
        </p:nvSpPr>
        <p:spPr>
          <a:xfrm>
            <a:off x="8724900" y="23050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4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9B83"/>
                </a:solidFill>
                <a:latin typeface="Noto Sans SC"/>
                <a:ea typeface="Noto Sans SC"/>
                <a:cs typeface="Noto Sans SC"/>
              </a:rPr>
              <a:t>关键实现参数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5F50E7F-48F7-4A51-AF06-F83B65BAA58F}"/>
              </a:ext>
            </a:extLst>
          </p:cNvPr>
          <p:cNvSpPr>
            <a:spLocks noGrp="1"/>
          </p:cNvSpPr>
          <p:nvPr/>
        </p:nvSpPr>
        <p:spPr>
          <a:xfrm>
            <a:off x="8743950" y="2838450"/>
            <a:ext cx="9525" cy="552450"/>
          </a:xfrm>
          <a:prstGeom prst="rect">
            <a:avLst/>
          </a:prstGeom>
          <a:solidFill>
            <a:srgbClr val="3C7D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225B462-3336-4654-BA43-FFEFE7929E3C}"/>
              </a:ext>
            </a:extLst>
          </p:cNvPr>
          <p:cNvSpPr>
            <a:spLocks noGrp="1"/>
          </p:cNvSpPr>
          <p:nvPr/>
        </p:nvSpPr>
        <p:spPr>
          <a:xfrm>
            <a:off x="8896350" y="293370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3C7DC7"/>
                </a:solidFill>
                <a:latin typeface="Noto Serif SC"/>
                <a:ea typeface="Noto Serif SC"/>
                <a:cs typeface="Noto Serif SC"/>
              </a:rPr>
              <a:t>45ms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CD906C9-2253-40A6-82DE-0B6CC03FBB7F}"/>
              </a:ext>
            </a:extLst>
          </p:cNvPr>
          <p:cNvSpPr>
            <a:spLocks noGrp="1"/>
          </p:cNvSpPr>
          <p:nvPr/>
        </p:nvSpPr>
        <p:spPr>
          <a:xfrm>
            <a:off x="8896350" y="33337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采样间隔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4EC5A13-9884-4F67-A07D-9BEF5FF60A85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9525" cy="552450"/>
          </a:xfrm>
          <a:prstGeom prst="rect">
            <a:avLst/>
          </a:prstGeom>
          <a:solidFill>
            <a:srgbClr val="169A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F918E30-B4E6-4EEC-A9C1-0BC17A6A5E6D}"/>
              </a:ext>
            </a:extLst>
          </p:cNvPr>
          <p:cNvSpPr>
            <a:spLocks noGrp="1"/>
          </p:cNvSpPr>
          <p:nvPr/>
        </p:nvSpPr>
        <p:spPr>
          <a:xfrm>
            <a:off x="8896350" y="37909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169A82"/>
                </a:solidFill>
                <a:latin typeface="Noto Serif SC"/>
                <a:ea typeface="Noto Serif SC"/>
                <a:cs typeface="Noto Serif SC"/>
              </a:rPr>
              <a:t>900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90D4B99-4C0B-4414-8FAD-4D196CF459AB}"/>
              </a:ext>
            </a:extLst>
          </p:cNvPr>
          <p:cNvSpPr>
            <a:spLocks noGrp="1"/>
          </p:cNvSpPr>
          <p:nvPr/>
        </p:nvSpPr>
        <p:spPr>
          <a:xfrm>
            <a:off x="8896350" y="41910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最多样本/局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48B30D8-7F96-4CF6-873B-55B87EDEB88F}"/>
              </a:ext>
            </a:extLst>
          </p:cNvPr>
          <p:cNvSpPr>
            <a:spLocks noGrp="1"/>
          </p:cNvSpPr>
          <p:nvPr/>
        </p:nvSpPr>
        <p:spPr>
          <a:xfrm>
            <a:off x="8743950" y="4552950"/>
            <a:ext cx="9525" cy="552450"/>
          </a:xfrm>
          <a:prstGeom prst="rect">
            <a:avLst/>
          </a:prstGeom>
          <a:solidFill>
            <a:srgbClr val="D997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836AD18-5B78-4A43-B307-AF62A569EA88}"/>
              </a:ext>
            </a:extLst>
          </p:cNvPr>
          <p:cNvSpPr>
            <a:spLocks noGrp="1"/>
          </p:cNvSpPr>
          <p:nvPr/>
        </p:nvSpPr>
        <p:spPr>
          <a:xfrm>
            <a:off x="8896350" y="46482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D9972B"/>
                </a:solidFill>
                <a:latin typeface="Noto Serif SC"/>
                <a:ea typeface="Noto Serif SC"/>
                <a:cs typeface="Noto Serif SC"/>
              </a:rPr>
              <a:t>0.78-1.38x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B863B6-202B-454C-B704-7DB6275F2028}"/>
              </a:ext>
            </a:extLst>
          </p:cNvPr>
          <p:cNvSpPr>
            <a:spLocks noGrp="1"/>
          </p:cNvSpPr>
          <p:nvPr/>
        </p:nvSpPr>
        <p:spPr>
          <a:xfrm>
            <a:off x="8896350" y="50482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灵敏度 clamp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ABDD8E8-8D50-4601-A483-18BDF90FC3DB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11049000" cy="9525"/>
          </a:xfrm>
          <a:prstGeom prst="rect">
            <a:avLst/>
          </a:prstGeom>
          <a:solidFill>
            <a:srgbClr val="D9DD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B917D7A-8789-4793-8814-361B6E1DDB6D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4706D"/>
                </a:solidFill>
                <a:latin typeface="Noto Sans SC"/>
                <a:ea typeface="Noto Sans SC"/>
                <a:cs typeface="Noto Sans SC"/>
              </a:rPr>
              <a:t>讲法：公式不展开推导，只强调可解释、渐进式、多维度。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C19B3A4-115E-4E02-89F9-A2980D7C66F5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64706D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724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BD54041A-27D9-E224-49DD-C6086EDD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>
            <a:extLst>
              <a:ext uri="{FF2B5EF4-FFF2-40B4-BE49-F238E27FC236}">
                <a16:creationId xmlns:a16="http://schemas.microsoft.com/office/drawing/2014/main" id="{5216E18C-0ACB-40DC-2A16-3378C10D02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>
            <a:extLst>
              <a:ext uri="{FF2B5EF4-FFF2-40B4-BE49-F238E27FC236}">
                <a16:creationId xmlns:a16="http://schemas.microsoft.com/office/drawing/2014/main" id="{898BCDFD-6DDD-D2C3-2936-871129B91C52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创新点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4：</a:t>
            </a:r>
            <a:r>
              <a:rPr lang="zh-CN" altLang="en-US" sz="31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多人模式</a:t>
            </a:r>
            <a:endParaRPr dirty="0"/>
          </a:p>
        </p:txBody>
      </p:sp>
      <p:sp>
        <p:nvSpPr>
          <p:cNvPr id="224" name="Google Shape;224;p21">
            <a:extLst>
              <a:ext uri="{FF2B5EF4-FFF2-40B4-BE49-F238E27FC236}">
                <a16:creationId xmlns:a16="http://schemas.microsoft.com/office/drawing/2014/main" id="{BC0D89A6-C374-DA51-3553-4972DEB0E680}"/>
              </a:ext>
            </a:extLst>
          </p:cNvPr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EF7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EF7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3072EB-0B22-A132-57C8-6E8AEAD7D544}"/>
              </a:ext>
            </a:extLst>
          </p:cNvPr>
          <p:cNvSpPr txBox="1"/>
          <p:nvPr/>
        </p:nvSpPr>
        <p:spPr>
          <a:xfrm>
            <a:off x="8171603" y="1510512"/>
            <a:ext cx="3621969" cy="425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7EF7C5"/>
                </a:solidFill>
              </a:rPr>
              <a:t>多目标并发追踪</a:t>
            </a:r>
            <a:r>
              <a:rPr lang="zh-CN" altLang="zh-CN" b="1" dirty="0">
                <a:solidFill>
                  <a:schemeClr val="bg1"/>
                </a:solidFill>
              </a:rPr>
              <a:t>：</a:t>
            </a:r>
            <a:r>
              <a:rPr lang="zh-CN" altLang="zh-CN" dirty="0">
                <a:solidFill>
                  <a:schemeClr val="bg1"/>
                </a:solidFill>
              </a:rPr>
              <a:t> 基于 MediaPipe 维护多指针队列，实现同屏并行渲染与碰撞检测，解决输入冲突。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7EF7C5"/>
                </a:solidFill>
              </a:rPr>
              <a:t>空间动态分割</a:t>
            </a:r>
            <a:r>
              <a:rPr lang="zh-CN" altLang="zh-CN" b="1" dirty="0">
                <a:solidFill>
                  <a:schemeClr val="bg1"/>
                </a:solidFill>
              </a:rPr>
              <a:t>：</a:t>
            </a:r>
            <a:r>
              <a:rPr lang="zh-CN" altLang="zh-CN" dirty="0">
                <a:solidFill>
                  <a:schemeClr val="bg1"/>
                </a:solidFill>
              </a:rPr>
              <a:t> 以虚拟中轴线（W/2）分屏，逐帧通过横坐标动态判定操作归属P1/P2。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7EF7C5"/>
                </a:solidFill>
              </a:rPr>
              <a:t>独立对抗状态机</a:t>
            </a:r>
            <a:r>
              <a:rPr lang="zh-CN" altLang="zh-CN" b="1" dirty="0">
                <a:solidFill>
                  <a:schemeClr val="bg1"/>
                </a:solidFill>
              </a:rPr>
              <a:t>：</a:t>
            </a:r>
            <a:r>
              <a:rPr lang="zh-CN" altLang="zh-CN" dirty="0">
                <a:solidFill>
                  <a:schemeClr val="bg1"/>
                </a:solidFill>
              </a:rPr>
              <a:t> 建立双线积分与失误系统，互不干扰；底层自适应调整生成数列与抛射轨迹，保障对抗公平性。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7EF7C5"/>
                </a:solidFill>
              </a:rPr>
              <a:t>社交属性增强</a:t>
            </a:r>
            <a:r>
              <a:rPr lang="zh-CN" altLang="zh-CN" b="1" dirty="0">
                <a:solidFill>
                  <a:schemeClr val="bg1"/>
                </a:solidFill>
              </a:rPr>
              <a:t>：</a:t>
            </a:r>
            <a:r>
              <a:rPr lang="zh-CN" altLang="zh-CN" dirty="0">
                <a:solidFill>
                  <a:schemeClr val="bg1"/>
                </a:solidFill>
              </a:rPr>
              <a:t> 极简接入，打造轻量级、沉浸式的线下街机互动体验。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7643E7-4AE8-718F-28F3-9EB4BFD1A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87" t="17536" r="22766" b="4039"/>
          <a:stretch>
            <a:fillRect/>
          </a:stretch>
        </p:blipFill>
        <p:spPr>
          <a:xfrm>
            <a:off x="762000" y="1451042"/>
            <a:ext cx="6793149" cy="45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73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849</Words>
  <Application>Microsoft Office PowerPoint</Application>
  <DocSecurity>0</DocSecurity>
  <PresentationFormat>宽屏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Noto Sans SC</vt:lpstr>
      <vt:lpstr>Noto Serif SC</vt:lpstr>
      <vt:lpstr>Arial</vt:lpstr>
      <vt:lpstr>Calibri</vt:lpstr>
      <vt:lpstr>Poppins</vt:lpstr>
      <vt:lpstr>Urbanist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Shalom Hush-X</cp:lastModifiedBy>
  <cp:revision>9</cp:revision>
  <dcterms:created xsi:type="dcterms:W3CDTF">2026-06-13T14:58:58Z</dcterms:created>
  <dcterms:modified xsi:type="dcterms:W3CDTF">2026-06-14T01:31:01Z</dcterms:modified>
</cp:coreProperties>
</file>